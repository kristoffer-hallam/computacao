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Big Shoulders Dis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6" roundtripDataSignature="AMtx7miTRR11txno2yzlnowkDD4idkVq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BigShouldersDisplay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BigShouldersDis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abc9e995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fabc9e99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126025110a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2126025110a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126025110a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2126025110a_0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126025110a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2126025110a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126025110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2126025110a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126025110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2126025110a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126025110a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2126025110a_0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126025110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2126025110a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126025110a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2126025110a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126025110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2126025110a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126025110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2126025110a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126025110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2126025110a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126025110a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2126025110a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126025110a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2126025110a_0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fabc9e995c_0_0"/>
          <p:cNvSpPr/>
          <p:nvPr/>
        </p:nvSpPr>
        <p:spPr>
          <a:xfrm rot="10800000">
            <a:off x="104" y="610500"/>
            <a:ext cx="122193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fabc9e995c_0_0"/>
          <p:cNvSpPr txBox="1"/>
          <p:nvPr>
            <p:ph type="title"/>
          </p:nvPr>
        </p:nvSpPr>
        <p:spPr>
          <a:xfrm>
            <a:off x="838200" y="5424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8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Curso de</a:t>
            </a:r>
            <a:endParaRPr b="1" sz="8000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pic>
        <p:nvPicPr>
          <p:cNvPr id="86" name="Google Shape;86;gfabc9e995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350" y="2522925"/>
            <a:ext cx="8976777" cy="37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0" y="452121"/>
            <a:ext cx="12192000" cy="737303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 rot="10800000">
            <a:off x="11194417" y="1"/>
            <a:ext cx="743339" cy="1189423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61543" y="1474725"/>
            <a:ext cx="11077200" cy="49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Ambientação do Jupyter / Google Colab - Lógica de Programação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Operações Matemáticas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Noções de Variáveis / Tipos de Variáveis - </a:t>
            </a:r>
            <a:r>
              <a:rPr b="1" lang="pt-BR" sz="2500">
                <a:solidFill>
                  <a:srgbClr val="777777"/>
                </a:solidFill>
                <a:highlight>
                  <a:srgbClr val="FFFFFF"/>
                </a:highlight>
              </a:rPr>
              <a:t>int</a:t>
            </a: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 / </a:t>
            </a:r>
            <a:r>
              <a:rPr b="1" lang="pt-BR" sz="2500">
                <a:solidFill>
                  <a:srgbClr val="777777"/>
                </a:solidFill>
                <a:highlight>
                  <a:srgbClr val="FFFFFF"/>
                </a:highlight>
              </a:rPr>
              <a:t>float</a:t>
            </a: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 / </a:t>
            </a:r>
            <a:r>
              <a:rPr b="1" lang="pt-BR" sz="2500">
                <a:solidFill>
                  <a:srgbClr val="777777"/>
                </a:solidFill>
                <a:highlight>
                  <a:srgbClr val="FFFFFF"/>
                </a:highlight>
              </a:rPr>
              <a:t>string</a:t>
            </a:r>
            <a:endParaRPr b="1"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Estruturas de dados ou Coleções - </a:t>
            </a:r>
            <a:r>
              <a:rPr b="1" lang="pt-BR" sz="2500">
                <a:solidFill>
                  <a:srgbClr val="777777"/>
                </a:solidFill>
                <a:highlight>
                  <a:srgbClr val="FFFFFF"/>
                </a:highlight>
              </a:rPr>
              <a:t>Listas</a:t>
            </a: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 e métodos / </a:t>
            </a:r>
            <a:r>
              <a:rPr b="1" lang="pt-BR" sz="2500">
                <a:solidFill>
                  <a:srgbClr val="777777"/>
                </a:solidFill>
                <a:highlight>
                  <a:srgbClr val="FFFFFF"/>
                </a:highlight>
              </a:rPr>
              <a:t>Tuplas</a:t>
            </a: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 / </a:t>
            </a:r>
            <a:r>
              <a:rPr b="1" lang="pt-BR" sz="2500">
                <a:solidFill>
                  <a:srgbClr val="777777"/>
                </a:solidFill>
                <a:highlight>
                  <a:srgbClr val="FFFFFF"/>
                </a:highlight>
              </a:rPr>
              <a:t>Dicionários</a:t>
            </a: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 / </a:t>
            </a:r>
            <a:r>
              <a:rPr b="1" lang="pt-BR" sz="2500">
                <a:solidFill>
                  <a:srgbClr val="777777"/>
                </a:solidFill>
                <a:highlight>
                  <a:srgbClr val="FFFFFF"/>
                </a:highlight>
              </a:rPr>
              <a:t>Sets</a:t>
            </a:r>
            <a:endParaRPr b="1"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Estruturas condicionais - </a:t>
            </a:r>
            <a:r>
              <a:rPr b="1" lang="pt-BR" sz="2500">
                <a:solidFill>
                  <a:srgbClr val="777777"/>
                </a:solidFill>
                <a:highlight>
                  <a:srgbClr val="FFFFFF"/>
                </a:highlight>
              </a:rPr>
              <a:t>if / elif / else</a:t>
            </a:r>
            <a:endParaRPr b="1"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Estruturas de repetição - </a:t>
            </a:r>
            <a:r>
              <a:rPr b="1" lang="pt-BR" sz="2500">
                <a:solidFill>
                  <a:srgbClr val="777777"/>
                </a:solidFill>
                <a:highlight>
                  <a:srgbClr val="FFFFFF"/>
                </a:highlight>
              </a:rPr>
              <a:t>for / while</a:t>
            </a:r>
            <a:endParaRPr b="1"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Leitura e escrita de arquivos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Criação de funções próprias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Noção, importação e utilização de módulos externos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Noções básicas de Programação Orientada a Objeto (POO)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01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52362" y="559825"/>
            <a:ext cx="1107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35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Cronograma - Curso 1</a:t>
            </a:r>
            <a:endParaRPr b="1" i="0" sz="3500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126025110a_0_204"/>
          <p:cNvSpPr/>
          <p:nvPr/>
        </p:nvSpPr>
        <p:spPr>
          <a:xfrm>
            <a:off x="0" y="1862054"/>
            <a:ext cx="13242300" cy="15372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2126025110a_0_204"/>
          <p:cNvSpPr txBox="1"/>
          <p:nvPr/>
        </p:nvSpPr>
        <p:spPr>
          <a:xfrm>
            <a:off x="133200" y="2086587"/>
            <a:ext cx="12975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50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Ambientação do Jupyter / Google Colab</a:t>
            </a:r>
            <a:endParaRPr b="1" i="0" sz="5000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126025110a_0_188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2126025110a_0_188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2126025110a_0_188"/>
          <p:cNvSpPr txBox="1"/>
          <p:nvPr/>
        </p:nvSpPr>
        <p:spPr>
          <a:xfrm>
            <a:off x="461543" y="2389125"/>
            <a:ext cx="110772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Char char="●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O aluno tem um primeiro contato com lógica de programação juntamente com a linguagem Python;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Char char="●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Se familiariza com o software;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Char char="●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Aprende os primeiros comandos;</a:t>
            </a:r>
            <a:endParaRPr b="0" i="0" sz="250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g2126025110a_0_188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2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10" name="Google Shape;110;g2126025110a_0_188"/>
          <p:cNvSpPr txBox="1"/>
          <p:nvPr/>
        </p:nvSpPr>
        <p:spPr>
          <a:xfrm>
            <a:off x="152362" y="559825"/>
            <a:ext cx="1107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Ambientação com o Jupyter(Google Colab) / Conceitos Básicos de Lógica de Programação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126025110a_0_161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2126025110a_0_161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2126025110a_0_161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3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18" name="Google Shape;118;g2126025110a_0_161"/>
          <p:cNvSpPr txBox="1"/>
          <p:nvPr/>
        </p:nvSpPr>
        <p:spPr>
          <a:xfrm>
            <a:off x="152362" y="559825"/>
            <a:ext cx="1107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Ambientação com Jupyter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pic>
        <p:nvPicPr>
          <p:cNvPr id="119" name="Google Shape;119;g2126025110a_0_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13521"/>
            <a:ext cx="11887201" cy="419070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126025110a_0_161"/>
          <p:cNvSpPr txBox="1"/>
          <p:nvPr/>
        </p:nvSpPr>
        <p:spPr>
          <a:xfrm>
            <a:off x="6612775" y="3034713"/>
            <a:ext cx="2763900" cy="5694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Interface do Jupyter</a:t>
            </a:r>
            <a:endParaRPr sz="2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2126025110a_0_161"/>
          <p:cNvSpPr/>
          <p:nvPr/>
        </p:nvSpPr>
        <p:spPr>
          <a:xfrm>
            <a:off x="152400" y="4979300"/>
            <a:ext cx="11887200" cy="1924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2126025110a_0_161"/>
          <p:cNvSpPr txBox="1"/>
          <p:nvPr/>
        </p:nvSpPr>
        <p:spPr>
          <a:xfrm>
            <a:off x="4368350" y="5449300"/>
            <a:ext cx="3075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Pasta com arquivos</a:t>
            </a:r>
            <a:endParaRPr sz="2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g2126025110a_0_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57475"/>
            <a:ext cx="5625554" cy="11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126025110a_0_161"/>
          <p:cNvSpPr txBox="1"/>
          <p:nvPr/>
        </p:nvSpPr>
        <p:spPr>
          <a:xfrm>
            <a:off x="6612775" y="1399875"/>
            <a:ext cx="3948600" cy="5694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Instalação do App Anaconda</a:t>
            </a:r>
            <a:endParaRPr sz="2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126025110a_0_116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2126025110a_0_116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2126025110a_0_116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04</a:t>
            </a:r>
            <a:endParaRPr sz="3000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32" name="Google Shape;132;g2126025110a_0_116"/>
          <p:cNvSpPr txBox="1"/>
          <p:nvPr/>
        </p:nvSpPr>
        <p:spPr>
          <a:xfrm>
            <a:off x="152362" y="559825"/>
            <a:ext cx="1107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Ambientação com Jupyter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pic>
        <p:nvPicPr>
          <p:cNvPr id="133" name="Google Shape;133;g2126025110a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1921"/>
            <a:ext cx="11887201" cy="406300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2126025110a_0_116"/>
          <p:cNvSpPr/>
          <p:nvPr/>
        </p:nvSpPr>
        <p:spPr>
          <a:xfrm>
            <a:off x="8670175" y="3453950"/>
            <a:ext cx="2971800" cy="332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2126025110a_0_116"/>
          <p:cNvSpPr txBox="1"/>
          <p:nvPr/>
        </p:nvSpPr>
        <p:spPr>
          <a:xfrm>
            <a:off x="6217925" y="1510725"/>
            <a:ext cx="2348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Criamos um novo notebook</a:t>
            </a:r>
            <a:endParaRPr sz="2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2126025110a_0_116"/>
          <p:cNvSpPr/>
          <p:nvPr/>
        </p:nvSpPr>
        <p:spPr>
          <a:xfrm>
            <a:off x="8670175" y="4167450"/>
            <a:ext cx="2971800" cy="332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2126025110a_0_116"/>
          <p:cNvSpPr/>
          <p:nvPr/>
        </p:nvSpPr>
        <p:spPr>
          <a:xfrm>
            <a:off x="8670175" y="4499850"/>
            <a:ext cx="2971800" cy="332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2126025110a_0_116"/>
          <p:cNvSpPr txBox="1"/>
          <p:nvPr/>
        </p:nvSpPr>
        <p:spPr>
          <a:xfrm>
            <a:off x="4890650" y="3633313"/>
            <a:ext cx="2615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Criamos um novo arquivo txt</a:t>
            </a:r>
            <a:endParaRPr sz="25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2126025110a_0_116"/>
          <p:cNvSpPr txBox="1"/>
          <p:nvPr/>
        </p:nvSpPr>
        <p:spPr>
          <a:xfrm>
            <a:off x="6476950" y="5755925"/>
            <a:ext cx="2615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Criamos uma nova pasta</a:t>
            </a:r>
            <a:endParaRPr sz="25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g2126025110a_0_116"/>
          <p:cNvCxnSpPr>
            <a:stCxn id="137" idx="1"/>
            <a:endCxn id="139" idx="0"/>
          </p:cNvCxnSpPr>
          <p:nvPr/>
        </p:nvCxnSpPr>
        <p:spPr>
          <a:xfrm flipH="1">
            <a:off x="7784875" y="4666050"/>
            <a:ext cx="885300" cy="1089900"/>
          </a:xfrm>
          <a:prstGeom prst="bent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g2126025110a_0_116"/>
          <p:cNvCxnSpPr>
            <a:stCxn id="136" idx="1"/>
            <a:endCxn id="138" idx="3"/>
          </p:cNvCxnSpPr>
          <p:nvPr/>
        </p:nvCxnSpPr>
        <p:spPr>
          <a:xfrm rot="10800000">
            <a:off x="7506475" y="4110450"/>
            <a:ext cx="1163700" cy="223200"/>
          </a:xfrm>
          <a:prstGeom prst="bentConnector3">
            <a:avLst>
              <a:gd fmla="val 50005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g2126025110a_0_116"/>
          <p:cNvCxnSpPr>
            <a:endCxn id="135" idx="2"/>
          </p:cNvCxnSpPr>
          <p:nvPr/>
        </p:nvCxnSpPr>
        <p:spPr>
          <a:xfrm rot="10800000">
            <a:off x="7392125" y="2465025"/>
            <a:ext cx="1298700" cy="1197000"/>
          </a:xfrm>
          <a:prstGeom prst="bent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126025110a_0_19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2126025110a_0_19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2126025110a_0_19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05</a:t>
            </a:r>
            <a:endParaRPr sz="3000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50" name="Google Shape;150;g2126025110a_0_19"/>
          <p:cNvSpPr txBox="1"/>
          <p:nvPr/>
        </p:nvSpPr>
        <p:spPr>
          <a:xfrm>
            <a:off x="152362" y="559825"/>
            <a:ext cx="1107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Ambientação com Jupyter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pic>
        <p:nvPicPr>
          <p:cNvPr id="151" name="Google Shape;151;g2126025110a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5059"/>
            <a:ext cx="11887201" cy="340131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2126025110a_0_19"/>
          <p:cNvSpPr/>
          <p:nvPr/>
        </p:nvSpPr>
        <p:spPr>
          <a:xfrm>
            <a:off x="1708275" y="3183800"/>
            <a:ext cx="10158000" cy="159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2126025110a_0_19"/>
          <p:cNvSpPr txBox="1"/>
          <p:nvPr/>
        </p:nvSpPr>
        <p:spPr>
          <a:xfrm>
            <a:off x="4784000" y="3695450"/>
            <a:ext cx="3075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células de execução</a:t>
            </a:r>
            <a:endParaRPr sz="2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126025110a_0_19"/>
          <p:cNvSpPr txBox="1"/>
          <p:nvPr/>
        </p:nvSpPr>
        <p:spPr>
          <a:xfrm>
            <a:off x="6290097" y="4918500"/>
            <a:ext cx="5901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3000"/>
              <a:buChar char="●"/>
            </a:pPr>
            <a:r>
              <a:rPr lang="pt-BR" sz="3000">
                <a:solidFill>
                  <a:srgbClr val="777777"/>
                </a:solidFill>
                <a:highlight>
                  <a:srgbClr val="FFFFFF"/>
                </a:highlight>
              </a:rPr>
              <a:t>Executando as células;</a:t>
            </a:r>
            <a:endParaRPr sz="30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419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3000"/>
              <a:buChar char="●"/>
            </a:pPr>
            <a:r>
              <a:rPr lang="pt-BR" sz="3000">
                <a:solidFill>
                  <a:srgbClr val="777777"/>
                </a:solidFill>
                <a:highlight>
                  <a:srgbClr val="FFFFFF"/>
                </a:highlight>
              </a:rPr>
              <a:t>Criando e removendo células;</a:t>
            </a:r>
            <a:endParaRPr sz="30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419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3000"/>
              <a:buChar char="●"/>
            </a:pPr>
            <a:r>
              <a:rPr lang="pt-BR" sz="3000">
                <a:solidFill>
                  <a:srgbClr val="777777"/>
                </a:solidFill>
                <a:highlight>
                  <a:srgbClr val="FFFFFF"/>
                </a:highlight>
              </a:rPr>
              <a:t>Escrevendo textos;</a:t>
            </a:r>
            <a:endParaRPr sz="30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419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3000"/>
              <a:buChar char="●"/>
            </a:pPr>
            <a:r>
              <a:rPr lang="pt-BR" sz="3000">
                <a:solidFill>
                  <a:srgbClr val="777777"/>
                </a:solidFill>
                <a:highlight>
                  <a:srgbClr val="FFFFFF"/>
                </a:highlight>
              </a:rPr>
              <a:t>Escrevendo fórmulas.</a:t>
            </a:r>
            <a:endParaRPr sz="3000">
              <a:solidFill>
                <a:srgbClr val="777777"/>
              </a:solidFill>
              <a:highlight>
                <a:srgbClr val="FFFFFF"/>
              </a:highlight>
            </a:endParaRPr>
          </a:p>
        </p:txBody>
      </p:sp>
      <p:sp>
        <p:nvSpPr>
          <p:cNvPr id="155" name="Google Shape;155;g2126025110a_0_19"/>
          <p:cNvSpPr/>
          <p:nvPr/>
        </p:nvSpPr>
        <p:spPr>
          <a:xfrm>
            <a:off x="1708275" y="1375050"/>
            <a:ext cx="1177500" cy="43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2126025110a_0_19"/>
          <p:cNvSpPr txBox="1"/>
          <p:nvPr/>
        </p:nvSpPr>
        <p:spPr>
          <a:xfrm>
            <a:off x="6290100" y="1344300"/>
            <a:ext cx="307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nome do arquivo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g2126025110a_0_19"/>
          <p:cNvCxnSpPr>
            <a:stCxn id="155" idx="2"/>
            <a:endCxn id="156" idx="2"/>
          </p:cNvCxnSpPr>
          <p:nvPr/>
        </p:nvCxnSpPr>
        <p:spPr>
          <a:xfrm flipH="1" rot="-5400000">
            <a:off x="5046975" y="-943800"/>
            <a:ext cx="30900" cy="5530800"/>
          </a:xfrm>
          <a:prstGeom prst="bentConnector3">
            <a:avLst>
              <a:gd fmla="val 87014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g2126025110a_0_19"/>
          <p:cNvSpPr txBox="1"/>
          <p:nvPr/>
        </p:nvSpPr>
        <p:spPr>
          <a:xfrm>
            <a:off x="8465650" y="2345000"/>
            <a:ext cx="2763900" cy="5694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3474A6"/>
                </a:solidFill>
                <a:latin typeface="Calibri"/>
                <a:ea typeface="Calibri"/>
                <a:cs typeface="Calibri"/>
                <a:sym typeface="Calibri"/>
              </a:rPr>
              <a:t>Jupyter NOTEBOOK</a:t>
            </a:r>
            <a:endParaRPr sz="2500">
              <a:solidFill>
                <a:srgbClr val="347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126025110a_0_212"/>
          <p:cNvSpPr/>
          <p:nvPr/>
        </p:nvSpPr>
        <p:spPr>
          <a:xfrm>
            <a:off x="0" y="1862054"/>
            <a:ext cx="13242300" cy="15372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126025110a_0_212"/>
          <p:cNvSpPr txBox="1"/>
          <p:nvPr/>
        </p:nvSpPr>
        <p:spPr>
          <a:xfrm>
            <a:off x="133200" y="2086587"/>
            <a:ext cx="12975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50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Operações Matemáticas Básicas</a:t>
            </a:r>
            <a:endParaRPr b="1" i="0" sz="5000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126025110a_0_42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2126025110a_0_42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2126025110a_0_42"/>
          <p:cNvSpPr txBox="1"/>
          <p:nvPr/>
        </p:nvSpPr>
        <p:spPr>
          <a:xfrm>
            <a:off x="503093" y="1412400"/>
            <a:ext cx="11077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777777"/>
                </a:solidFill>
                <a:highlight>
                  <a:srgbClr val="FFFFFF"/>
                </a:highlight>
              </a:rPr>
              <a:t>A</a:t>
            </a:r>
            <a:r>
              <a:rPr lang="pt-BR" sz="2200">
                <a:solidFill>
                  <a:srgbClr val="777777"/>
                </a:solidFill>
                <a:highlight>
                  <a:srgbClr val="FFFFFF"/>
                </a:highlight>
              </a:rPr>
              <a:t>ula de aplicação de operações matemáticas para que o aluno entenda de que forma elas são processadas dentro do ambiente;</a:t>
            </a:r>
            <a:endParaRPr sz="2200">
              <a:solidFill>
                <a:srgbClr val="777777"/>
              </a:solidFill>
              <a:highlight>
                <a:srgbClr val="FFFFFF"/>
              </a:highlight>
            </a:endParaRPr>
          </a:p>
        </p:txBody>
      </p:sp>
      <p:sp>
        <p:nvSpPr>
          <p:cNvPr id="172" name="Google Shape;172;g2126025110a_0_42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6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73" name="Google Shape;173;g2126025110a_0_42"/>
          <p:cNvSpPr txBox="1"/>
          <p:nvPr/>
        </p:nvSpPr>
        <p:spPr>
          <a:xfrm>
            <a:off x="152362" y="559825"/>
            <a:ext cx="1107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Operações Matemáticas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pic>
        <p:nvPicPr>
          <p:cNvPr id="174" name="Google Shape;174;g2126025110a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050" y="2808875"/>
            <a:ext cx="249555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126025110a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4575" y="2808875"/>
            <a:ext cx="2495550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126025110a_0_42"/>
          <p:cNvSpPr txBox="1"/>
          <p:nvPr/>
        </p:nvSpPr>
        <p:spPr>
          <a:xfrm>
            <a:off x="3470248" y="3185750"/>
            <a:ext cx="2172600" cy="193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</a:rPr>
              <a:t>Adição</a:t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3000">
                <a:solidFill>
                  <a:schemeClr val="dk1"/>
                </a:solidFill>
              </a:rPr>
            </a:br>
            <a:r>
              <a:rPr lang="pt-BR" sz="3000">
                <a:solidFill>
                  <a:schemeClr val="dk1"/>
                </a:solidFill>
              </a:rPr>
              <a:t>Subtração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77" name="Google Shape;177;g2126025110a_0_42"/>
          <p:cNvSpPr txBox="1"/>
          <p:nvPr/>
        </p:nvSpPr>
        <p:spPr>
          <a:xfrm>
            <a:off x="9185250" y="3185750"/>
            <a:ext cx="2395200" cy="193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</a:rPr>
              <a:t>Multiplicação</a:t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3000">
                <a:solidFill>
                  <a:schemeClr val="dk1"/>
                </a:solidFill>
              </a:rPr>
            </a:br>
            <a:r>
              <a:rPr lang="pt-BR" sz="3000">
                <a:solidFill>
                  <a:schemeClr val="dk1"/>
                </a:solidFill>
              </a:rPr>
              <a:t>Divisão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78" name="Google Shape;178;g2126025110a_0_42"/>
          <p:cNvSpPr txBox="1"/>
          <p:nvPr/>
        </p:nvSpPr>
        <p:spPr>
          <a:xfrm>
            <a:off x="4185550" y="5955600"/>
            <a:ext cx="3010800" cy="5541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</a:rPr>
              <a:t>E os derivados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126025110a_0_222"/>
          <p:cNvSpPr/>
          <p:nvPr/>
        </p:nvSpPr>
        <p:spPr>
          <a:xfrm>
            <a:off x="0" y="1862054"/>
            <a:ext cx="13242300" cy="15372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2126025110a_0_222"/>
          <p:cNvSpPr txBox="1"/>
          <p:nvPr/>
        </p:nvSpPr>
        <p:spPr>
          <a:xfrm>
            <a:off x="133200" y="2086587"/>
            <a:ext cx="12975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50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Noções de Variáveis /</a:t>
            </a:r>
            <a:r>
              <a:rPr b="1" lang="pt-BR" sz="50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Tipos de Variáveis</a:t>
            </a:r>
            <a:endParaRPr b="1" i="0" sz="5000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126025110a_0_75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126025110a_0_75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2126025110a_0_75"/>
          <p:cNvSpPr txBox="1"/>
          <p:nvPr/>
        </p:nvSpPr>
        <p:spPr>
          <a:xfrm>
            <a:off x="503093" y="1412400"/>
            <a:ext cx="11077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2200">
                <a:solidFill>
                  <a:srgbClr val="777777"/>
                </a:solidFill>
                <a:highlight>
                  <a:srgbClr val="FFFFFF"/>
                </a:highlight>
              </a:rPr>
              <a:t>O aluno tem o primeiro contato com a linguagem e aprende os primeiros comandos;</a:t>
            </a:r>
            <a:endParaRPr b="0" i="0" sz="220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2126025110a_0_75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7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93" name="Google Shape;193;g2126025110a_0_75"/>
          <p:cNvSpPr txBox="1"/>
          <p:nvPr/>
        </p:nvSpPr>
        <p:spPr>
          <a:xfrm>
            <a:off x="152362" y="559825"/>
            <a:ext cx="1107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Conceitos de variáveis e funções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pic>
        <p:nvPicPr>
          <p:cNvPr id="194" name="Google Shape;194;g2126025110a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325" y="1930225"/>
            <a:ext cx="9176509" cy="4740599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g2126025110a_0_75"/>
          <p:cNvSpPr/>
          <p:nvPr/>
        </p:nvSpPr>
        <p:spPr>
          <a:xfrm>
            <a:off x="2248600" y="3379125"/>
            <a:ext cx="1434000" cy="31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2126025110a_0_75"/>
          <p:cNvSpPr/>
          <p:nvPr/>
        </p:nvSpPr>
        <p:spPr>
          <a:xfrm>
            <a:off x="2130825" y="3780900"/>
            <a:ext cx="1434000" cy="31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2126025110a_0_75"/>
          <p:cNvSpPr/>
          <p:nvPr/>
        </p:nvSpPr>
        <p:spPr>
          <a:xfrm>
            <a:off x="2130825" y="4473625"/>
            <a:ext cx="1434000" cy="31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2126025110a_0_75"/>
          <p:cNvSpPr txBox="1"/>
          <p:nvPr/>
        </p:nvSpPr>
        <p:spPr>
          <a:xfrm>
            <a:off x="6592000" y="2589425"/>
            <a:ext cx="51123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64899" lvl="0" marL="604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pt-BR" sz="3000">
                <a:latin typeface="Calibri"/>
                <a:ea typeface="Calibri"/>
                <a:cs typeface="Calibri"/>
                <a:sym typeface="Calibri"/>
              </a:rPr>
              <a:t>Variáveis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564899" lvl="0" marL="604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pt-BR" sz="3000">
                <a:latin typeface="Calibri"/>
                <a:ea typeface="Calibri"/>
                <a:cs typeface="Calibri"/>
                <a:sym typeface="Calibri"/>
              </a:rPr>
              <a:t>Utilização de funções intrínsecas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564899" lvl="0" marL="604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pt-BR" sz="3000">
                <a:latin typeface="Calibri"/>
                <a:ea typeface="Calibri"/>
                <a:cs typeface="Calibri"/>
                <a:sym typeface="Calibri"/>
              </a:rPr>
              <a:t>Buscando ajuda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2126025110a_0_75"/>
          <p:cNvSpPr/>
          <p:nvPr/>
        </p:nvSpPr>
        <p:spPr>
          <a:xfrm>
            <a:off x="7125400" y="2705550"/>
            <a:ext cx="1676400" cy="43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2126025110a_0_75"/>
          <p:cNvSpPr/>
          <p:nvPr/>
        </p:nvSpPr>
        <p:spPr>
          <a:xfrm>
            <a:off x="7083825" y="3330838"/>
            <a:ext cx="3643800" cy="1260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2126025110a_0_75"/>
          <p:cNvSpPr/>
          <p:nvPr/>
        </p:nvSpPr>
        <p:spPr>
          <a:xfrm>
            <a:off x="7083825" y="4785325"/>
            <a:ext cx="2791800" cy="43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g2126025110a_0_75"/>
          <p:cNvCxnSpPr>
            <a:endCxn id="199" idx="1"/>
          </p:cNvCxnSpPr>
          <p:nvPr/>
        </p:nvCxnSpPr>
        <p:spPr>
          <a:xfrm flipH="1" rot="10800000">
            <a:off x="3765700" y="2921100"/>
            <a:ext cx="3359700" cy="595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g2126025110a_0_75"/>
          <p:cNvCxnSpPr>
            <a:stCxn id="196" idx="3"/>
            <a:endCxn id="200" idx="1"/>
          </p:cNvCxnSpPr>
          <p:nvPr/>
        </p:nvCxnSpPr>
        <p:spPr>
          <a:xfrm>
            <a:off x="3564825" y="3936750"/>
            <a:ext cx="3519000" cy="24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g2126025110a_0_75"/>
          <p:cNvCxnSpPr>
            <a:stCxn id="197" idx="3"/>
            <a:endCxn id="201" idx="1"/>
          </p:cNvCxnSpPr>
          <p:nvPr/>
        </p:nvCxnSpPr>
        <p:spPr>
          <a:xfrm>
            <a:off x="3564825" y="4629475"/>
            <a:ext cx="3519000" cy="371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126025110a_0_56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2126025110a_0_56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2126025110a_0_56"/>
          <p:cNvSpPr txBox="1"/>
          <p:nvPr/>
        </p:nvSpPr>
        <p:spPr>
          <a:xfrm>
            <a:off x="503093" y="1412400"/>
            <a:ext cx="11077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19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3000"/>
              <a:buChar char="●"/>
            </a:pPr>
            <a:r>
              <a:rPr lang="pt-BR" sz="3000">
                <a:solidFill>
                  <a:srgbClr val="777777"/>
                </a:solidFill>
                <a:highlight>
                  <a:srgbClr val="FFFFFF"/>
                </a:highlight>
              </a:rPr>
              <a:t>O que são variáveis;</a:t>
            </a:r>
            <a:endParaRPr sz="30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419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3000"/>
              <a:buChar char="●"/>
            </a:pPr>
            <a:r>
              <a:rPr lang="pt-BR" sz="3000">
                <a:solidFill>
                  <a:srgbClr val="777777"/>
                </a:solidFill>
                <a:highlight>
                  <a:srgbClr val="FFFFFF"/>
                </a:highlight>
              </a:rPr>
              <a:t>Como declaramos variáveis;</a:t>
            </a:r>
            <a:endParaRPr sz="30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419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3000"/>
              <a:buChar char="●"/>
            </a:pPr>
            <a:r>
              <a:rPr lang="pt-BR" sz="3000">
                <a:solidFill>
                  <a:srgbClr val="777777"/>
                </a:solidFill>
                <a:highlight>
                  <a:srgbClr val="FFFFFF"/>
                </a:highlight>
              </a:rPr>
              <a:t>Quais são os tipos de variáveis;</a:t>
            </a:r>
            <a:endParaRPr sz="30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419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3000"/>
              <a:buChar char="●"/>
            </a:pPr>
            <a:r>
              <a:rPr lang="pt-BR" sz="3000">
                <a:solidFill>
                  <a:srgbClr val="777777"/>
                </a:solidFill>
                <a:highlight>
                  <a:srgbClr val="FFFFFF"/>
                </a:highlight>
              </a:rPr>
              <a:t>Como usá-las numa rotina.</a:t>
            </a:r>
            <a:endParaRPr sz="3000">
              <a:solidFill>
                <a:srgbClr val="777777"/>
              </a:solidFill>
              <a:highlight>
                <a:srgbClr val="FFFFFF"/>
              </a:highlight>
            </a:endParaRPr>
          </a:p>
        </p:txBody>
      </p:sp>
      <p:sp>
        <p:nvSpPr>
          <p:cNvPr id="212" name="Google Shape;212;g2126025110a_0_56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8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13" name="Google Shape;213;g2126025110a_0_56"/>
          <p:cNvSpPr txBox="1"/>
          <p:nvPr/>
        </p:nvSpPr>
        <p:spPr>
          <a:xfrm>
            <a:off x="152362" y="559825"/>
            <a:ext cx="1107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Variáveis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pic>
        <p:nvPicPr>
          <p:cNvPr id="214" name="Google Shape;214;g2126025110a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4725" y="3670575"/>
            <a:ext cx="817245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2126025110a_0_56"/>
          <p:cNvSpPr txBox="1"/>
          <p:nvPr/>
        </p:nvSpPr>
        <p:spPr>
          <a:xfrm>
            <a:off x="2050148" y="5388625"/>
            <a:ext cx="7281600" cy="10158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</a:rPr>
              <a:t>variável </a:t>
            </a:r>
            <a:r>
              <a:rPr b="1" lang="pt-BR" sz="3000">
                <a:solidFill>
                  <a:schemeClr val="dk1"/>
                </a:solidFill>
              </a:rPr>
              <a:t>a</a:t>
            </a:r>
            <a:r>
              <a:rPr lang="pt-BR" sz="3000">
                <a:solidFill>
                  <a:schemeClr val="dk1"/>
                </a:solidFill>
              </a:rPr>
              <a:t> "recebe" o número inteiro 3</a:t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</a:rPr>
              <a:t>variável </a:t>
            </a:r>
            <a:r>
              <a:rPr b="1" lang="pt-BR" sz="3000">
                <a:solidFill>
                  <a:schemeClr val="dk1"/>
                </a:solidFill>
              </a:rPr>
              <a:t>nome </a:t>
            </a:r>
            <a:r>
              <a:rPr lang="pt-BR" sz="3000">
                <a:solidFill>
                  <a:schemeClr val="dk1"/>
                </a:solidFill>
              </a:rPr>
              <a:t>recebe o texto Marcelo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216" name="Google Shape;216;g2126025110a_0_56"/>
          <p:cNvSpPr txBox="1"/>
          <p:nvPr/>
        </p:nvSpPr>
        <p:spPr>
          <a:xfrm>
            <a:off x="8607825" y="6413275"/>
            <a:ext cx="363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126025110a_0_177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126025110a_0_177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126025110a_0_177"/>
          <p:cNvSpPr txBox="1"/>
          <p:nvPr/>
        </p:nvSpPr>
        <p:spPr>
          <a:xfrm>
            <a:off x="503093" y="1412400"/>
            <a:ext cx="11077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19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3000"/>
              <a:buChar char="●"/>
            </a:pPr>
            <a:r>
              <a:rPr lang="pt-BR" sz="3000">
                <a:solidFill>
                  <a:srgbClr val="777777"/>
                </a:solidFill>
                <a:highlight>
                  <a:srgbClr val="FFFFFF"/>
                </a:highlight>
              </a:rPr>
              <a:t>Variáveis do tipo INT</a:t>
            </a:r>
            <a:endParaRPr sz="30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3000"/>
              <a:buChar char="●"/>
            </a:pPr>
            <a:r>
              <a:rPr lang="pt-BR" sz="3000">
                <a:solidFill>
                  <a:srgbClr val="777777"/>
                </a:solidFill>
                <a:highlight>
                  <a:srgbClr val="FFFFFF"/>
                </a:highlight>
              </a:rPr>
              <a:t>Variáveis do tipo FLOAT</a:t>
            </a:r>
            <a:endParaRPr sz="30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3000"/>
              <a:buChar char="●"/>
            </a:pPr>
            <a:r>
              <a:rPr lang="pt-BR" sz="3000">
                <a:solidFill>
                  <a:srgbClr val="777777"/>
                </a:solidFill>
                <a:highlight>
                  <a:srgbClr val="FFFFFF"/>
                </a:highlight>
              </a:rPr>
              <a:t>Variáveis do tipo STRING</a:t>
            </a:r>
            <a:endParaRPr sz="30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3000"/>
              <a:buChar char="●"/>
            </a:pPr>
            <a:r>
              <a:rPr lang="pt-BR" sz="3000">
                <a:solidFill>
                  <a:srgbClr val="777777"/>
                </a:solidFill>
                <a:highlight>
                  <a:srgbClr val="FFFFFF"/>
                </a:highlight>
              </a:rPr>
              <a:t>Métodos compatíveis com STRING</a:t>
            </a:r>
            <a:endParaRPr sz="3000">
              <a:solidFill>
                <a:srgbClr val="777777"/>
              </a:solidFill>
              <a:highlight>
                <a:srgbClr val="FFFFFF"/>
              </a:highlight>
            </a:endParaRPr>
          </a:p>
        </p:txBody>
      </p:sp>
      <p:sp>
        <p:nvSpPr>
          <p:cNvPr id="224" name="Google Shape;224;g2126025110a_0_177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9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25" name="Google Shape;225;g2126025110a_0_177"/>
          <p:cNvSpPr txBox="1"/>
          <p:nvPr/>
        </p:nvSpPr>
        <p:spPr>
          <a:xfrm>
            <a:off x="152362" y="559825"/>
            <a:ext cx="1107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Variáveis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pic>
        <p:nvPicPr>
          <p:cNvPr id="226" name="Google Shape;226;g2126025110a_0_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4725" y="3670575"/>
            <a:ext cx="817245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126025110a_0_177"/>
          <p:cNvSpPr txBox="1"/>
          <p:nvPr/>
        </p:nvSpPr>
        <p:spPr>
          <a:xfrm>
            <a:off x="2050148" y="5388625"/>
            <a:ext cx="7281600" cy="10158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</a:rPr>
              <a:t>variável </a:t>
            </a:r>
            <a:r>
              <a:rPr b="1" lang="pt-BR" sz="3000">
                <a:solidFill>
                  <a:schemeClr val="dk1"/>
                </a:solidFill>
              </a:rPr>
              <a:t>a</a:t>
            </a:r>
            <a:r>
              <a:rPr lang="pt-BR" sz="3000">
                <a:solidFill>
                  <a:schemeClr val="dk1"/>
                </a:solidFill>
              </a:rPr>
              <a:t> "recebe" o número inteiro 3</a:t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</a:rPr>
              <a:t>variável </a:t>
            </a:r>
            <a:r>
              <a:rPr b="1" lang="pt-BR" sz="3000">
                <a:solidFill>
                  <a:schemeClr val="dk1"/>
                </a:solidFill>
              </a:rPr>
              <a:t>nome </a:t>
            </a:r>
            <a:r>
              <a:rPr lang="pt-BR" sz="3000">
                <a:solidFill>
                  <a:schemeClr val="dk1"/>
                </a:solidFill>
              </a:rPr>
              <a:t>recebe o texto Marcelo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228" name="Google Shape;228;g2126025110a_0_177"/>
          <p:cNvSpPr txBox="1"/>
          <p:nvPr/>
        </p:nvSpPr>
        <p:spPr>
          <a:xfrm>
            <a:off x="8607825" y="6413275"/>
            <a:ext cx="363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26025110a_0_196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2126025110a_0_196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2126025110a_0_196"/>
          <p:cNvSpPr txBox="1"/>
          <p:nvPr/>
        </p:nvSpPr>
        <p:spPr>
          <a:xfrm>
            <a:off x="461543" y="1474725"/>
            <a:ext cx="11077200" cy="49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Breve revisão dos conceitos do curso 1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List Comprehension e Expressões </a:t>
            </a:r>
            <a:r>
              <a:rPr b="1" lang="pt-BR" sz="2500">
                <a:solidFill>
                  <a:srgbClr val="777777"/>
                </a:solidFill>
                <a:highlight>
                  <a:srgbClr val="FFFFFF"/>
                </a:highlight>
              </a:rPr>
              <a:t>Lambda</a:t>
            </a:r>
            <a:endParaRPr b="1"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Integração: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lphaL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com arquivos e pastas do computador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lphaL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com arquivos txt e pdf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lphaL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com o email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Automação de Tarefas / Processos (RPA)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Automação Web - Selenium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Introdução à Análise de dados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Introdução à Ciência de dados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AutoNum type="arabicPeriod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Intensivo POO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</p:txBody>
      </p:sp>
      <p:sp>
        <p:nvSpPr>
          <p:cNvPr id="236" name="Google Shape;236;g2126025110a_0_196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10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37" name="Google Shape;237;g2126025110a_0_196"/>
          <p:cNvSpPr txBox="1"/>
          <p:nvPr/>
        </p:nvSpPr>
        <p:spPr>
          <a:xfrm>
            <a:off x="152362" y="559825"/>
            <a:ext cx="1107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35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Cronograma - Curso 2</a:t>
            </a:r>
            <a:endParaRPr b="1" i="0" sz="3500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126025110a_0_227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2126025110a_0_227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2126025110a_0_227"/>
          <p:cNvSpPr txBox="1"/>
          <p:nvPr/>
        </p:nvSpPr>
        <p:spPr>
          <a:xfrm>
            <a:off x="461543" y="2084325"/>
            <a:ext cx="110772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Char char="●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Serão feitas avaliações periódicas;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-387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500"/>
              <a:buChar char="●"/>
            </a:pPr>
            <a:r>
              <a:rPr lang="pt-BR" sz="2500">
                <a:solidFill>
                  <a:srgbClr val="777777"/>
                </a:solidFill>
                <a:highlight>
                  <a:srgbClr val="FFFFFF"/>
                </a:highlight>
              </a:rPr>
              <a:t>Este conteúdo programático está sujeito às mudanças de acordo com as necessidades dos alunos.</a:t>
            </a:r>
            <a:endParaRPr sz="2500">
              <a:solidFill>
                <a:srgbClr val="777777"/>
              </a:solidFill>
              <a:highlight>
                <a:srgbClr val="FFFFFF"/>
              </a:highlight>
            </a:endParaRPr>
          </a:p>
        </p:txBody>
      </p:sp>
      <p:sp>
        <p:nvSpPr>
          <p:cNvPr id="245" name="Google Shape;245;g2126025110a_0_227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11</a:t>
            </a:r>
            <a:endParaRPr sz="3000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46" name="Google Shape;246;g2126025110a_0_227"/>
          <p:cNvSpPr txBox="1"/>
          <p:nvPr/>
        </p:nvSpPr>
        <p:spPr>
          <a:xfrm>
            <a:off x="152362" y="559825"/>
            <a:ext cx="1107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35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Observações</a:t>
            </a:r>
            <a:endParaRPr b="1" i="0" sz="3500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2021-10-21T15:34:20Z</dcterms:created>
  <dc:creator>Marcus Vinicius Cavalcanti de Jesus</dc:creator>
</cp:coreProperties>
</file>