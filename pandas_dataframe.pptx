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Big Shoulders Dis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gxhv8omVL6eFusU9SIOVlYvYcd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BigShouldersDisplay-bold.fntdata"/><Relationship Id="rId23" Type="http://schemas.openxmlformats.org/officeDocument/2006/relationships/font" Target="fonts/BigShouldersDis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Lato-regular.fntdata"/><Relationship Id="rId14" Type="http://schemas.openxmlformats.org/officeDocument/2006/relationships/slide" Target="slides/slide10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abc9e995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fabc9e99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07cb081d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1007cb081d4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07cb081d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1007cb081d4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07cb081d4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1007cb081d4_0_4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07cb081d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1007cb081d4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07cb081d4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1007cb081d4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0174c6932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10174c69329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07cb081d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1007cb081d4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174c6932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10174c69329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abc9e995c_0_0"/>
          <p:cNvSpPr/>
          <p:nvPr/>
        </p:nvSpPr>
        <p:spPr>
          <a:xfrm rot="10800000">
            <a:off x="104" y="1677300"/>
            <a:ext cx="122193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fabc9e995c_0_0"/>
          <p:cNvSpPr/>
          <p:nvPr/>
        </p:nvSpPr>
        <p:spPr>
          <a:xfrm>
            <a:off x="0" y="3549600"/>
            <a:ext cx="12192000" cy="11187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fabc9e995c_0_0"/>
          <p:cNvSpPr txBox="1"/>
          <p:nvPr>
            <p:ph type="title"/>
          </p:nvPr>
        </p:nvSpPr>
        <p:spPr>
          <a:xfrm>
            <a:off x="838200" y="16092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8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18</a:t>
            </a:r>
            <a:endParaRPr b="1" sz="58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87" name="Google Shape;87;gfabc9e995c_0_0"/>
          <p:cNvSpPr txBox="1"/>
          <p:nvPr>
            <p:ph idx="1" type="body"/>
          </p:nvPr>
        </p:nvSpPr>
        <p:spPr>
          <a:xfrm>
            <a:off x="838200" y="3609525"/>
            <a:ext cx="10515600" cy="155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FFFFFF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6466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endParaRPr sz="5100">
              <a:solidFill>
                <a:schemeClr val="lt1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452121"/>
            <a:ext cx="12192000" cy="737303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1194417" y="1"/>
            <a:ext cx="743339" cy="1189423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9073363" y="6349174"/>
            <a:ext cx="2591633" cy="176974"/>
            <a:chOff x="0" y="0"/>
            <a:chExt cx="5183266" cy="353948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96380" y="50186"/>
              <a:ext cx="4986886" cy="2095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7"/>
                <a:buFont typeface="Arial"/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8" cy="353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1"/>
          <p:cNvSpPr txBox="1"/>
          <p:nvPr/>
        </p:nvSpPr>
        <p:spPr>
          <a:xfrm>
            <a:off x="557400" y="2352000"/>
            <a:ext cx="7012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Um</a:t>
            </a:r>
            <a:r>
              <a:rPr b="0" i="0" lang="pt-BR" sz="20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1" lang="pt-BR" sz="20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 </a:t>
            </a:r>
            <a:r>
              <a:rPr b="0" lang="pt-BR" sz="20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(DF)</a:t>
            </a:r>
            <a:r>
              <a:rPr b="0" i="0" lang="pt-BR" sz="20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corresponde a uma estrutura de dados bidimensional (tabela) organizada em linhas e colunas.</a:t>
            </a:r>
            <a:endParaRPr b="0" i="0" sz="10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01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O que é um Dataframe?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7032350" y="4758725"/>
            <a:ext cx="0" cy="196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1" name="Google Shape;101;p1"/>
          <p:cNvSpPr txBox="1"/>
          <p:nvPr/>
        </p:nvSpPr>
        <p:spPr>
          <a:xfrm>
            <a:off x="7163300" y="3652200"/>
            <a:ext cx="469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Os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Dataframes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do exemplo da figura ao lado diferem-se com relação aos nomes dados às linhas e colunas. É possível numerá-los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(a)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ou nomeá-los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(b)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63300" y="5040500"/>
            <a:ext cx="4699500" cy="16932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sng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OBSERVAÇÃO:</a:t>
            </a:r>
            <a:endParaRPr b="1" i="0" sz="1400" u="none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Um dataframe pode ser construído a partir de: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Listas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Dicionários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Numpy arrays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Outros Dataframes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Arquivos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557400" y="1260000"/>
            <a:ext cx="1107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 pandas é uma biblioteca muito utilizada em análise e ciência de dados. Com ela, pode-se importar, tratar grandes volumes de dados usando poucas linhas de código, criando e manipulando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Dataframes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0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4" name="Google Shape;104;p1"/>
          <p:cNvGrpSpPr/>
          <p:nvPr/>
        </p:nvGrpSpPr>
        <p:grpSpPr>
          <a:xfrm>
            <a:off x="8525225" y="2267175"/>
            <a:ext cx="3236400" cy="1262100"/>
            <a:chOff x="8525225" y="2267175"/>
            <a:chExt cx="3236400" cy="1262100"/>
          </a:xfrm>
        </p:grpSpPr>
        <p:sp>
          <p:nvSpPr>
            <p:cNvPr id="105" name="Google Shape;105;p1"/>
            <p:cNvSpPr txBox="1"/>
            <p:nvPr/>
          </p:nvSpPr>
          <p:spPr>
            <a:xfrm>
              <a:off x="8525225" y="2267175"/>
              <a:ext cx="3236400" cy="1262100"/>
            </a:xfrm>
            <a:prstGeom prst="rect">
              <a:avLst/>
            </a:prstGeom>
            <a:solidFill>
              <a:srgbClr val="FFDB4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Por convenção, a biblioteca pandas é importada segundo o código abaixo</a:t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06" name="Google Shape;106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05088" y="2862150"/>
              <a:ext cx="2676674" cy="52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"/>
          <p:cNvGrpSpPr/>
          <p:nvPr/>
        </p:nvGrpSpPr>
        <p:grpSpPr>
          <a:xfrm>
            <a:off x="557404" y="3222075"/>
            <a:ext cx="6519225" cy="2571375"/>
            <a:chOff x="4414479" y="1971000"/>
            <a:chExt cx="6519225" cy="2571375"/>
          </a:xfrm>
        </p:grpSpPr>
        <p:pic>
          <p:nvPicPr>
            <p:cNvPr id="108" name="Google Shape;108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24529" y="2427164"/>
              <a:ext cx="2666825" cy="18237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"/>
            <p:cNvSpPr/>
            <p:nvPr/>
          </p:nvSpPr>
          <p:spPr>
            <a:xfrm>
              <a:off x="5263305" y="2422012"/>
              <a:ext cx="1610100" cy="343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 rot="5400000">
              <a:off x="4155335" y="3305536"/>
              <a:ext cx="1131600" cy="344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82733" y="2427879"/>
              <a:ext cx="3350971" cy="176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"/>
            <p:cNvSpPr/>
            <p:nvPr/>
          </p:nvSpPr>
          <p:spPr>
            <a:xfrm>
              <a:off x="8198110" y="2482768"/>
              <a:ext cx="2605800" cy="3327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 rot="5400000">
              <a:off x="7332760" y="3210895"/>
              <a:ext cx="1141800" cy="5889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65599" y="1971000"/>
              <a:ext cx="1086900" cy="431100"/>
            </a:xfrm>
            <a:prstGeom prst="rect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pt-BR" sz="16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Colunas</a:t>
              </a:r>
              <a:endParaRPr b="1" i="0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" name="Google Shape;115;p1"/>
            <p:cNvCxnSpPr>
              <a:stCxn id="114" idx="1"/>
              <a:endCxn id="109" idx="0"/>
            </p:cNvCxnSpPr>
            <p:nvPr/>
          </p:nvCxnSpPr>
          <p:spPr>
            <a:xfrm flipH="1">
              <a:off x="6068499" y="2186550"/>
              <a:ext cx="1097100" cy="2355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6" name="Google Shape;116;p1"/>
            <p:cNvCxnSpPr>
              <a:stCxn id="114" idx="3"/>
              <a:endCxn id="112" idx="0"/>
            </p:cNvCxnSpPr>
            <p:nvPr/>
          </p:nvCxnSpPr>
          <p:spPr>
            <a:xfrm>
              <a:off x="8252499" y="2186550"/>
              <a:ext cx="1248600" cy="29610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" name="Google Shape;117;p1"/>
            <p:cNvSpPr txBox="1"/>
            <p:nvPr/>
          </p:nvSpPr>
          <p:spPr>
            <a:xfrm>
              <a:off x="5863675" y="4111275"/>
              <a:ext cx="1086900" cy="431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pt-BR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Linhas</a:t>
              </a:r>
              <a:endParaRPr b="1" i="0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" name="Google Shape;118;p1"/>
            <p:cNvCxnSpPr>
              <a:stCxn id="117" idx="1"/>
              <a:endCxn id="110" idx="3"/>
            </p:cNvCxnSpPr>
            <p:nvPr/>
          </p:nvCxnSpPr>
          <p:spPr>
            <a:xfrm rot="10800000">
              <a:off x="4721275" y="4043625"/>
              <a:ext cx="1142400" cy="2832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" name="Google Shape;119;p1"/>
            <p:cNvCxnSpPr>
              <a:stCxn id="117" idx="3"/>
              <a:endCxn id="113" idx="3"/>
            </p:cNvCxnSpPr>
            <p:nvPr/>
          </p:nvCxnSpPr>
          <p:spPr>
            <a:xfrm flipH="1" rot="10800000">
              <a:off x="6950575" y="4076325"/>
              <a:ext cx="953100" cy="2505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0" name="Google Shape;120;p1"/>
            <p:cNvSpPr txBox="1"/>
            <p:nvPr/>
          </p:nvSpPr>
          <p:spPr>
            <a:xfrm>
              <a:off x="7529543" y="2500200"/>
              <a:ext cx="431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latin typeface="Calibri"/>
                  <a:ea typeface="Calibri"/>
                  <a:cs typeface="Calibri"/>
                  <a:sym typeface="Calibri"/>
                </a:rPr>
                <a:t>b)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414479" y="2500200"/>
              <a:ext cx="494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latin typeface="Calibri"/>
                  <a:ea typeface="Calibri"/>
                  <a:cs typeface="Calibri"/>
                  <a:sym typeface="Calibri"/>
                </a:rPr>
                <a:t>a)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557400" y="5793450"/>
            <a:ext cx="63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2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Figura 1: Estruturas de dados bidimensionais. a) </a:t>
            </a:r>
            <a:r>
              <a:rPr i="1" lang="pt-BR" sz="12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2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com numeração de 0 a 2 tanto para as colunas quanto para linhas; b) </a:t>
            </a:r>
            <a:r>
              <a:rPr i="1" lang="pt-BR" sz="12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2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com colunas = ['Produto', 'Quantidade', 'Preço'] e linhas = ['ind1', 'ind2', 'ind3'].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07cb081d4_0_92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1007cb081d4_0_92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1007cb081d4_0_92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2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30" name="Google Shape;130;g1007cb081d4_0_92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Leitura do arquivo CSV (1/2)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31" name="Google Shape;131;g1007cb081d4_0_92"/>
          <p:cNvSpPr txBox="1"/>
          <p:nvPr/>
        </p:nvSpPr>
        <p:spPr>
          <a:xfrm>
            <a:off x="6973350" y="5428775"/>
            <a:ext cx="4699500" cy="12621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sng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OBSERVAÇÃO:</a:t>
            </a:r>
            <a:endParaRPr b="1" i="0" sz="1400" u="sng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arquivos localizados em outras pastas, é necessário passar todo o caminho de sua localização dentro do argumento nome do arquivo no item 4 acima.</a:t>
            </a:r>
            <a:endParaRPr b="1" i="0" sz="1400" u="none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g1007cb081d4_0_92"/>
          <p:cNvPicPr preferRelativeResize="0"/>
          <p:nvPr/>
        </p:nvPicPr>
        <p:blipFill rotWithShape="1">
          <a:blip r:embed="rId3">
            <a:alphaModFix/>
          </a:blip>
          <a:srcRect b="77035" l="3643" r="38888" t="0"/>
          <a:stretch/>
        </p:blipFill>
        <p:spPr>
          <a:xfrm>
            <a:off x="214775" y="2560150"/>
            <a:ext cx="8579550" cy="169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007cb081d4_0_92"/>
          <p:cNvSpPr/>
          <p:nvPr/>
        </p:nvSpPr>
        <p:spPr>
          <a:xfrm>
            <a:off x="356200" y="2743925"/>
            <a:ext cx="24627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1007cb081d4_0_92"/>
          <p:cNvSpPr txBox="1"/>
          <p:nvPr/>
        </p:nvSpPr>
        <p:spPr>
          <a:xfrm>
            <a:off x="479800" y="1847775"/>
            <a:ext cx="31416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1- Import</a:t>
            </a: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ando o pacote pandas e o renomeando como pd</a:t>
            </a:r>
            <a:endParaRPr b="1" i="0" sz="1600" u="none" cap="none" strike="noStrike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g1007cb081d4_0_92"/>
          <p:cNvCxnSpPr>
            <a:stCxn id="133" idx="1"/>
            <a:endCxn id="134" idx="1"/>
          </p:cNvCxnSpPr>
          <p:nvPr/>
        </p:nvCxnSpPr>
        <p:spPr>
          <a:xfrm flipH="1" rot="10800000">
            <a:off x="356200" y="2186225"/>
            <a:ext cx="123600" cy="714000"/>
          </a:xfrm>
          <a:prstGeom prst="bentConnector3">
            <a:avLst>
              <a:gd fmla="val -192658" name="adj1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6" name="Google Shape;136;g1007cb081d4_0_92"/>
          <p:cNvSpPr/>
          <p:nvPr/>
        </p:nvSpPr>
        <p:spPr>
          <a:xfrm>
            <a:off x="214775" y="3247675"/>
            <a:ext cx="13311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1007cb081d4_0_92"/>
          <p:cNvSpPr txBox="1"/>
          <p:nvPr/>
        </p:nvSpPr>
        <p:spPr>
          <a:xfrm>
            <a:off x="557400" y="4531000"/>
            <a:ext cx="46443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2- </a:t>
            </a: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Variável (DF) que recebe os dados lidos do arquivo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1007cb081d4_0_92"/>
          <p:cNvCxnSpPr>
            <a:stCxn id="136" idx="1"/>
            <a:endCxn id="137" idx="1"/>
          </p:cNvCxnSpPr>
          <p:nvPr/>
        </p:nvCxnSpPr>
        <p:spPr>
          <a:xfrm>
            <a:off x="214775" y="3403975"/>
            <a:ext cx="342600" cy="1342500"/>
          </a:xfrm>
          <a:prstGeom prst="bentConnector3">
            <a:avLst>
              <a:gd fmla="val -41484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g1007cb081d4_0_92"/>
          <p:cNvSpPr/>
          <p:nvPr/>
        </p:nvSpPr>
        <p:spPr>
          <a:xfrm>
            <a:off x="1815875" y="3250850"/>
            <a:ext cx="348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g1007cb081d4_0_92"/>
          <p:cNvCxnSpPr>
            <a:stCxn id="133" idx="3"/>
            <a:endCxn id="139" idx="0"/>
          </p:cNvCxnSpPr>
          <p:nvPr/>
        </p:nvCxnSpPr>
        <p:spPr>
          <a:xfrm flipH="1">
            <a:off x="1990300" y="2900225"/>
            <a:ext cx="828600" cy="350700"/>
          </a:xfrm>
          <a:prstGeom prst="bentConnector4">
            <a:avLst>
              <a:gd fmla="val -28738" name="adj1"/>
              <a:gd fmla="val 72273" name="adj2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g1007cb081d4_0_92"/>
          <p:cNvSpPr txBox="1"/>
          <p:nvPr/>
        </p:nvSpPr>
        <p:spPr>
          <a:xfrm>
            <a:off x="1699000" y="3981375"/>
            <a:ext cx="31416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pt-BR" sz="1600" u="none" cap="none" strike="noStrike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Acionando o pacote pandas (pd)</a:t>
            </a:r>
            <a:endParaRPr b="1" i="0" sz="1600" u="none" cap="none" strike="noStrike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g1007cb081d4_0_92"/>
          <p:cNvCxnSpPr>
            <a:stCxn id="139" idx="2"/>
            <a:endCxn id="141" idx="0"/>
          </p:cNvCxnSpPr>
          <p:nvPr/>
        </p:nvCxnSpPr>
        <p:spPr>
          <a:xfrm flipH="1" rot="-5400000">
            <a:off x="2421125" y="3132650"/>
            <a:ext cx="417900" cy="1279500"/>
          </a:xfrm>
          <a:prstGeom prst="bentConnector3">
            <a:avLst>
              <a:gd fmla="val 50003" name="adj1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g1007cb081d4_0_92"/>
          <p:cNvSpPr/>
          <p:nvPr/>
        </p:nvSpPr>
        <p:spPr>
          <a:xfrm>
            <a:off x="2231775" y="3247675"/>
            <a:ext cx="62535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007cb081d4_0_92"/>
          <p:cNvSpPr txBox="1"/>
          <p:nvPr/>
        </p:nvSpPr>
        <p:spPr>
          <a:xfrm>
            <a:off x="8616100" y="2107250"/>
            <a:ext cx="3417300" cy="1169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pt-BR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Comando de leitura do arquivo 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pt-BR" sz="1600" u="sng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Argumentos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nome do arquivo (string entre aspas) e separador de colunas (</a:t>
            </a:r>
            <a:r>
              <a:rPr b="1" i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sep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g1007cb081d4_0_92"/>
          <p:cNvCxnSpPr>
            <a:stCxn id="143" idx="0"/>
            <a:endCxn id="144" idx="0"/>
          </p:cNvCxnSpPr>
          <p:nvPr/>
        </p:nvCxnSpPr>
        <p:spPr>
          <a:xfrm rot="-5400000">
            <a:off x="7271475" y="194425"/>
            <a:ext cx="1140300" cy="4966200"/>
          </a:xfrm>
          <a:prstGeom prst="bentConnector3">
            <a:avLst>
              <a:gd fmla="val 120894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g1007cb081d4_0_92"/>
          <p:cNvSpPr/>
          <p:nvPr/>
        </p:nvSpPr>
        <p:spPr>
          <a:xfrm>
            <a:off x="224250" y="3755225"/>
            <a:ext cx="13449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007cb081d4_0_92"/>
          <p:cNvSpPr txBox="1"/>
          <p:nvPr/>
        </p:nvSpPr>
        <p:spPr>
          <a:xfrm>
            <a:off x="842725" y="5156825"/>
            <a:ext cx="24627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pt-BR" sz="16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pt-BR" sz="16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Exibindo o DF na tela</a:t>
            </a:r>
            <a:endParaRPr b="1" i="0" sz="16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g1007cb081d4_0_92"/>
          <p:cNvCxnSpPr>
            <a:stCxn id="146" idx="2"/>
            <a:endCxn id="147" idx="1"/>
          </p:cNvCxnSpPr>
          <p:nvPr/>
        </p:nvCxnSpPr>
        <p:spPr>
          <a:xfrm rot="5400000">
            <a:off x="217350" y="4693175"/>
            <a:ext cx="1304700" cy="54000"/>
          </a:xfrm>
          <a:prstGeom prst="bentConnector4">
            <a:avLst>
              <a:gd fmla="val 20083" name="adj1"/>
              <a:gd fmla="val 1203148" name="adj2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g1007cb081d4_0_92"/>
          <p:cNvSpPr txBox="1"/>
          <p:nvPr/>
        </p:nvSpPr>
        <p:spPr>
          <a:xfrm>
            <a:off x="557400" y="1260000"/>
            <a:ext cx="1107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Lendo o arquivo </a:t>
            </a: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csv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de Vendas do ano de 2017 por meio da função </a:t>
            </a: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pd.read_csv()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0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1007cb081d4_0_92"/>
          <p:cNvSpPr txBox="1"/>
          <p:nvPr/>
        </p:nvSpPr>
        <p:spPr>
          <a:xfrm>
            <a:off x="519150" y="5736575"/>
            <a:ext cx="616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conteúdo do arquivo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csv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é armazenado na variável </a:t>
            </a: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vendas_pf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 exibido na tela (próximo slide).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" name="Google Shape;151;g1007cb081d4_0_92"/>
          <p:cNvCxnSpPr/>
          <p:nvPr/>
        </p:nvCxnSpPr>
        <p:spPr>
          <a:xfrm>
            <a:off x="6803750" y="5259725"/>
            <a:ext cx="0" cy="146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2" name="Google Shape;152;g1007cb081d4_0_92"/>
          <p:cNvSpPr/>
          <p:nvPr/>
        </p:nvSpPr>
        <p:spPr>
          <a:xfrm>
            <a:off x="3305425" y="3093625"/>
            <a:ext cx="239700" cy="53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1007cb081d4_0_92"/>
          <p:cNvSpPr txBox="1"/>
          <p:nvPr/>
        </p:nvSpPr>
        <p:spPr>
          <a:xfrm>
            <a:off x="6706650" y="3985875"/>
            <a:ext cx="5326800" cy="92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pt-BR" sz="16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A letra r antes do nome do arquivo indica </a:t>
            </a:r>
            <a:r>
              <a:rPr b="1" i="1" lang="pt-BR" sz="16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raw string</a:t>
            </a:r>
            <a:r>
              <a:rPr b="1" lang="pt-BR" sz="16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 impondo que nenhum dos caracteres passados no nome do arquivo devem ser interpretados como caracteres especiais.</a:t>
            </a:r>
            <a:endParaRPr b="1" sz="1600" u="none" cap="none" strike="noStrike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1007cb081d4_0_92"/>
          <p:cNvCxnSpPr>
            <a:stCxn id="152" idx="2"/>
            <a:endCxn id="153" idx="0"/>
          </p:cNvCxnSpPr>
          <p:nvPr/>
        </p:nvCxnSpPr>
        <p:spPr>
          <a:xfrm flipH="1" rot="-5400000">
            <a:off x="6217675" y="833425"/>
            <a:ext cx="360000" cy="5944800"/>
          </a:xfrm>
          <a:prstGeom prst="bentConnector3">
            <a:avLst>
              <a:gd fmla="val 50007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07cb081d4_0_370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007cb081d4_0_370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1007cb081d4_0_370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3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62" name="Google Shape;162;g1007cb081d4_0_370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18 - Dataframe do Pandas - Leitura do arquivo CSV (2/2)</a:t>
            </a:r>
            <a:endParaRPr b="1" sz="2800">
              <a:solidFill>
                <a:schemeClr val="lt1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grpSp>
        <p:nvGrpSpPr>
          <p:cNvPr id="163" name="Google Shape;163;g1007cb081d4_0_370"/>
          <p:cNvGrpSpPr/>
          <p:nvPr/>
        </p:nvGrpSpPr>
        <p:grpSpPr>
          <a:xfrm>
            <a:off x="62246" y="1644550"/>
            <a:ext cx="11077202" cy="4657375"/>
            <a:chOff x="62246" y="2101750"/>
            <a:chExt cx="11077202" cy="4657375"/>
          </a:xfrm>
        </p:grpSpPr>
        <p:pic>
          <p:nvPicPr>
            <p:cNvPr id="164" name="Google Shape;164;g1007cb081d4_0_370"/>
            <p:cNvPicPr preferRelativeResize="0"/>
            <p:nvPr/>
          </p:nvPicPr>
          <p:blipFill rotWithShape="1">
            <a:blip r:embed="rId3">
              <a:alphaModFix/>
            </a:blip>
            <a:srcRect b="1325" l="0" r="0" t="15320"/>
            <a:stretch/>
          </p:blipFill>
          <p:spPr>
            <a:xfrm>
              <a:off x="62250" y="2101750"/>
              <a:ext cx="11077198" cy="4574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g1007cb081d4_0_370"/>
            <p:cNvSpPr/>
            <p:nvPr/>
          </p:nvSpPr>
          <p:spPr>
            <a:xfrm>
              <a:off x="62246" y="6331913"/>
              <a:ext cx="2099400" cy="4233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1007cb081d4_0_370"/>
            <p:cNvSpPr txBox="1"/>
            <p:nvPr/>
          </p:nvSpPr>
          <p:spPr>
            <a:xfrm>
              <a:off x="3036000" y="6328025"/>
              <a:ext cx="3772800" cy="431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pt-BR" sz="1600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Dataframe com 980642 linhas e 10 colunas</a:t>
              </a:r>
              <a:endParaRPr b="1" i="0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g1007cb081d4_0_370"/>
            <p:cNvCxnSpPr>
              <a:stCxn id="165" idx="3"/>
              <a:endCxn id="166" idx="1"/>
            </p:cNvCxnSpPr>
            <p:nvPr/>
          </p:nvCxnSpPr>
          <p:spPr>
            <a:xfrm>
              <a:off x="2161646" y="6543563"/>
              <a:ext cx="874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8" name="Google Shape;168;g1007cb081d4_0_370"/>
          <p:cNvSpPr txBox="1"/>
          <p:nvPr/>
        </p:nvSpPr>
        <p:spPr>
          <a:xfrm>
            <a:off x="159825" y="1260000"/>
            <a:ext cx="1177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9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 biblioteca Pandas exibe a tabela formatada com uma ótima visualização dos dados de cada linha e coluna.</a:t>
            </a:r>
            <a:endParaRPr b="0" i="0" sz="19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1007cb081d4_0_370"/>
          <p:cNvSpPr txBox="1"/>
          <p:nvPr/>
        </p:nvSpPr>
        <p:spPr>
          <a:xfrm>
            <a:off x="7251563" y="5885975"/>
            <a:ext cx="4249500" cy="8313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Colunas funcionam como chaves de um Dicionário.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400"/>
              <a:buFont typeface="Lato"/>
              <a:buChar char="●"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Linhas  funcionam como Listas.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07cb081d4_0_451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1007cb081d4_0_451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1007cb081d4_0_451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4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77" name="Google Shape;177;g1007cb081d4_0_451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Acessando os dados do Dataframe (1/4)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178" name="Google Shape;178;g1007cb081d4_0_451"/>
          <p:cNvSpPr txBox="1"/>
          <p:nvPr/>
        </p:nvSpPr>
        <p:spPr>
          <a:xfrm>
            <a:off x="557400" y="1260000"/>
            <a:ext cx="1107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 acesso às informações do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é feito por meio de suas linhas e colunas. O conteúdo de uma </a:t>
            </a:r>
            <a:r>
              <a:rPr b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coluna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específica é acessado de forma análoga à um dicionário (vide lembrete*).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9" name="Google Shape;179;g1007cb081d4_0_451"/>
          <p:cNvGrpSpPr/>
          <p:nvPr/>
        </p:nvGrpSpPr>
        <p:grpSpPr>
          <a:xfrm>
            <a:off x="7322950" y="2082025"/>
            <a:ext cx="4402570" cy="1908626"/>
            <a:chOff x="7322950" y="2082025"/>
            <a:chExt cx="4402570" cy="1908626"/>
          </a:xfrm>
        </p:grpSpPr>
        <p:sp>
          <p:nvSpPr>
            <p:cNvPr id="180" name="Google Shape;180;g1007cb081d4_0_451"/>
            <p:cNvSpPr txBox="1"/>
            <p:nvPr/>
          </p:nvSpPr>
          <p:spPr>
            <a:xfrm>
              <a:off x="7322950" y="2082025"/>
              <a:ext cx="4402570" cy="1908626"/>
            </a:xfrm>
            <a:prstGeom prst="rect">
              <a:avLst/>
            </a:prstGeom>
            <a:solidFill>
              <a:srgbClr val="FFDB4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pt-BR" u="sng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*</a:t>
              </a:r>
              <a:r>
                <a:rPr b="1" lang="pt-BR" u="sng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LEMBRETE</a:t>
              </a:r>
              <a:r>
                <a:rPr b="1" i="0" lang="pt-BR" sz="1400" u="sng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:</a:t>
              </a:r>
              <a:endParaRPr b="1" i="0" sz="1400" u="sng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Para acessar o conteúdo referente a uma chave do dicionário, basta passar a chave dentro dos colchetes, por exemplo:</a:t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81" name="Google Shape;181;g1007cb081d4_0_4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26375" y="3123887"/>
              <a:ext cx="4195736" cy="776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g1007cb081d4_0_451"/>
          <p:cNvGrpSpPr/>
          <p:nvPr/>
        </p:nvGrpSpPr>
        <p:grpSpPr>
          <a:xfrm>
            <a:off x="333275" y="2058900"/>
            <a:ext cx="5610326" cy="4109110"/>
            <a:chOff x="5743475" y="1830300"/>
            <a:chExt cx="5610326" cy="4109110"/>
          </a:xfrm>
        </p:grpSpPr>
        <p:pic>
          <p:nvPicPr>
            <p:cNvPr id="183" name="Google Shape;183;g1007cb081d4_0_4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43475" y="2439900"/>
              <a:ext cx="5610326" cy="3499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g1007cb081d4_0_451"/>
            <p:cNvSpPr txBox="1"/>
            <p:nvPr/>
          </p:nvSpPr>
          <p:spPr>
            <a:xfrm>
              <a:off x="5998600" y="1830300"/>
              <a:ext cx="4956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pt-BR" sz="1800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Sendo assim, basta passar o nome da coluna entre colchetes.</a:t>
              </a:r>
              <a:endParaRPr b="0" i="0" sz="1800" u="none" cap="none" strike="noStrike">
                <a:solidFill>
                  <a:srgbClr val="3474A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5" name="Google Shape;185;g1007cb081d4_0_451"/>
          <p:cNvSpPr/>
          <p:nvPr/>
        </p:nvSpPr>
        <p:spPr>
          <a:xfrm>
            <a:off x="912200" y="2829850"/>
            <a:ext cx="28074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007cb081d4_0_451"/>
          <p:cNvSpPr txBox="1"/>
          <p:nvPr/>
        </p:nvSpPr>
        <p:spPr>
          <a:xfrm>
            <a:off x="4813925" y="2525900"/>
            <a:ext cx="2348700" cy="92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Filtragem do DF exibindo apenas a coluna de interesse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g1007cb081d4_0_451"/>
          <p:cNvCxnSpPr>
            <a:stCxn id="185" idx="3"/>
            <a:endCxn id="186" idx="1"/>
          </p:cNvCxnSpPr>
          <p:nvPr/>
        </p:nvCxnSpPr>
        <p:spPr>
          <a:xfrm>
            <a:off x="3719600" y="2986150"/>
            <a:ext cx="1094400" cy="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g1007cb081d4_0_451"/>
          <p:cNvSpPr/>
          <p:nvPr/>
        </p:nvSpPr>
        <p:spPr>
          <a:xfrm rot="5400000">
            <a:off x="-530450" y="4021025"/>
            <a:ext cx="2673600" cy="103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1007cb081d4_0_451"/>
          <p:cNvSpPr/>
          <p:nvPr/>
        </p:nvSpPr>
        <p:spPr>
          <a:xfrm rot="5400000">
            <a:off x="612550" y="4021025"/>
            <a:ext cx="2673600" cy="103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007cb081d4_0_451"/>
          <p:cNvSpPr/>
          <p:nvPr/>
        </p:nvSpPr>
        <p:spPr>
          <a:xfrm>
            <a:off x="356200" y="5868125"/>
            <a:ext cx="56103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007cb081d4_0_451"/>
          <p:cNvSpPr txBox="1"/>
          <p:nvPr/>
        </p:nvSpPr>
        <p:spPr>
          <a:xfrm>
            <a:off x="3289925" y="3897500"/>
            <a:ext cx="15234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ID dos clientes</a:t>
            </a:r>
            <a:endParaRPr b="1" sz="16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1007cb081d4_0_451"/>
          <p:cNvCxnSpPr>
            <a:stCxn id="189" idx="0"/>
            <a:endCxn id="191" idx="1"/>
          </p:cNvCxnSpPr>
          <p:nvPr/>
        </p:nvCxnSpPr>
        <p:spPr>
          <a:xfrm flipH="1" rot="10800000">
            <a:off x="2465200" y="4112975"/>
            <a:ext cx="824700" cy="4239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g1007cb081d4_0_451"/>
          <p:cNvSpPr txBox="1"/>
          <p:nvPr/>
        </p:nvSpPr>
        <p:spPr>
          <a:xfrm>
            <a:off x="3213725" y="4507100"/>
            <a:ext cx="23487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Informações gerais da coluna ID Cliente</a:t>
            </a:r>
            <a:endParaRPr b="1" sz="1600" u="none" cap="none" strike="noStrike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g1007cb081d4_0_451"/>
          <p:cNvCxnSpPr>
            <a:stCxn id="190" idx="3"/>
            <a:endCxn id="193" idx="3"/>
          </p:cNvCxnSpPr>
          <p:nvPr/>
        </p:nvCxnSpPr>
        <p:spPr>
          <a:xfrm rot="10800000">
            <a:off x="5562400" y="4845725"/>
            <a:ext cx="404100" cy="1178700"/>
          </a:xfrm>
          <a:prstGeom prst="bentConnector3">
            <a:avLst>
              <a:gd fmla="val -58927" name="adj1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g1007cb081d4_0_451"/>
          <p:cNvSpPr txBox="1"/>
          <p:nvPr/>
        </p:nvSpPr>
        <p:spPr>
          <a:xfrm>
            <a:off x="802600" y="6320400"/>
            <a:ext cx="18855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Índice de cada linha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1007cb081d4_0_451"/>
          <p:cNvCxnSpPr>
            <a:stCxn id="188" idx="2"/>
            <a:endCxn id="195" idx="1"/>
          </p:cNvCxnSpPr>
          <p:nvPr/>
        </p:nvCxnSpPr>
        <p:spPr>
          <a:xfrm>
            <a:off x="290500" y="4536875"/>
            <a:ext cx="512100" cy="1999200"/>
          </a:xfrm>
          <a:prstGeom prst="bentConnector3">
            <a:avLst>
              <a:gd fmla="val -465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g1007cb081d4_0_451"/>
          <p:cNvSpPr txBox="1"/>
          <p:nvPr/>
        </p:nvSpPr>
        <p:spPr>
          <a:xfrm>
            <a:off x="6768620" y="4789350"/>
            <a:ext cx="4956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 exemplo ao lado, são exibidas todas as informações referentes à coluna de nome </a:t>
            </a:r>
            <a:r>
              <a:rPr lang="pt-BR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'ID Cliente'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, assim como o seu tamanho e o tipo de dado (dtype). Nenhuma outra coluna do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vendas_df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é exibida.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07cb081d4_0_283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007cb081d4_0_283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1007cb081d4_0_283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5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05" name="Google Shape;205;g1007cb081d4_0_283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Acessando os dados do Dataframe (2/4)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06" name="Google Shape;206;g1007cb081d4_0_283"/>
          <p:cNvSpPr txBox="1"/>
          <p:nvPr/>
        </p:nvSpPr>
        <p:spPr>
          <a:xfrm>
            <a:off x="557400" y="1260000"/>
            <a:ext cx="1107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Também é possível selecionar </a:t>
            </a:r>
            <a:r>
              <a:rPr lang="pt-BR" sz="18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mais de uma</a:t>
            </a:r>
            <a:r>
              <a:rPr lang="pt-BR" sz="18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coluna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criar um novo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(df_vendas_clientes)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a partir do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original </a:t>
            </a:r>
            <a:r>
              <a:rPr b="1"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(vendas_df)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7" name="Google Shape;207;g1007cb081d4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92325"/>
            <a:ext cx="8358800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1007cb081d4_0_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73463"/>
            <a:ext cx="3466006" cy="35749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1007cb081d4_0_283"/>
          <p:cNvSpPr/>
          <p:nvPr/>
        </p:nvSpPr>
        <p:spPr>
          <a:xfrm>
            <a:off x="3618400" y="2056250"/>
            <a:ext cx="47652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007cb081d4_0_283"/>
          <p:cNvSpPr txBox="1"/>
          <p:nvPr/>
        </p:nvSpPr>
        <p:spPr>
          <a:xfrm>
            <a:off x="8746875" y="1874000"/>
            <a:ext cx="32502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Lista do nome das colunas selecionadas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007cb081d4_0_283"/>
          <p:cNvSpPr/>
          <p:nvPr/>
        </p:nvSpPr>
        <p:spPr>
          <a:xfrm>
            <a:off x="557400" y="2326225"/>
            <a:ext cx="1869000" cy="22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g1007cb081d4_0_283"/>
          <p:cNvCxnSpPr>
            <a:stCxn id="209" idx="0"/>
            <a:endCxn id="210" idx="0"/>
          </p:cNvCxnSpPr>
          <p:nvPr/>
        </p:nvCxnSpPr>
        <p:spPr>
          <a:xfrm rot="-5400000">
            <a:off x="8095450" y="-220300"/>
            <a:ext cx="182100" cy="4371000"/>
          </a:xfrm>
          <a:prstGeom prst="bentConnector3">
            <a:avLst>
              <a:gd fmla="val 230848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g1007cb081d4_0_283"/>
          <p:cNvSpPr txBox="1"/>
          <p:nvPr/>
        </p:nvSpPr>
        <p:spPr>
          <a:xfrm>
            <a:off x="4785500" y="2518600"/>
            <a:ext cx="17964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Novo Dataframe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g1007cb081d4_0_283"/>
          <p:cNvCxnSpPr>
            <a:stCxn id="211" idx="3"/>
            <a:endCxn id="213" idx="1"/>
          </p:cNvCxnSpPr>
          <p:nvPr/>
        </p:nvCxnSpPr>
        <p:spPr>
          <a:xfrm>
            <a:off x="2426400" y="2438725"/>
            <a:ext cx="2359200" cy="295500"/>
          </a:xfrm>
          <a:prstGeom prst="bentConnector3">
            <a:avLst>
              <a:gd fmla="val 5912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g1007cb081d4_0_283"/>
          <p:cNvSpPr/>
          <p:nvPr/>
        </p:nvSpPr>
        <p:spPr>
          <a:xfrm>
            <a:off x="748500" y="2672725"/>
            <a:ext cx="2796600" cy="278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1007cb081d4_0_283"/>
          <p:cNvSpPr txBox="1"/>
          <p:nvPr/>
        </p:nvSpPr>
        <p:spPr>
          <a:xfrm>
            <a:off x="4785500" y="3356800"/>
            <a:ext cx="17964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Colunas Selecionadas</a:t>
            </a:r>
            <a:endParaRPr b="1" sz="1600" u="none" cap="none" strike="noStrike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g1007cb081d4_0_283"/>
          <p:cNvCxnSpPr>
            <a:stCxn id="215" idx="3"/>
            <a:endCxn id="216" idx="1"/>
          </p:cNvCxnSpPr>
          <p:nvPr/>
        </p:nvCxnSpPr>
        <p:spPr>
          <a:xfrm>
            <a:off x="3545100" y="2812075"/>
            <a:ext cx="1240500" cy="883200"/>
          </a:xfrm>
          <a:prstGeom prst="bentConnector3">
            <a:avLst>
              <a:gd fmla="val 49996" name="adj1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g1007cb081d4_0_283"/>
          <p:cNvSpPr txBox="1"/>
          <p:nvPr/>
        </p:nvSpPr>
        <p:spPr>
          <a:xfrm>
            <a:off x="4785600" y="4308000"/>
            <a:ext cx="7001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Note que uma lista com o nome das colunas desejadas é criada dentro dos colchetes do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original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vendas_df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Dessa forma, o pandas filtra o DF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vendas_df 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exibir apenas estas colunas e armazená-las no novo DF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df_vendas_clientes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8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Logo, o novo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df_vendas_clientes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possui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as 980642 linhas originais e as 3 colunas selecionadas, no caso </a:t>
            </a:r>
            <a:r>
              <a:rPr lang="pt-BR" sz="18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'Numero de Venda', 'Data de Venda' e 'ID Produto'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ao invés das 10 colunas iniciais.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07cb081d4_0_312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1007cb081d4_0_312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1007cb081d4_0_312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6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26" name="Google Shape;226;g1007cb081d4_0_312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18 - Dataframe do Pandas - Acessando os dados do Dataframe (3/4)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27" name="Google Shape;227;g1007cb081d4_0_312"/>
          <p:cNvSpPr txBox="1"/>
          <p:nvPr/>
        </p:nvSpPr>
        <p:spPr>
          <a:xfrm>
            <a:off x="557400" y="1260000"/>
            <a:ext cx="1107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selecionar o conteúdo referente às linhas de um 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ao invés das colunas, pode ser empregado a técnica do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fatiamento (</a:t>
            </a:r>
            <a:r>
              <a:rPr i="1"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slicing</a:t>
            </a:r>
            <a:r>
              <a:rPr lang="pt-BR" sz="18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) usado em listas (vide lembrete*).</a:t>
            </a:r>
            <a:endParaRPr b="0" i="0" sz="18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g1007cb081d4_0_312"/>
          <p:cNvSpPr txBox="1"/>
          <p:nvPr/>
        </p:nvSpPr>
        <p:spPr>
          <a:xfrm>
            <a:off x="8514375" y="2443100"/>
            <a:ext cx="3501300" cy="21240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r>
              <a:rPr b="1" lang="pt-BR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LEMBRETE</a:t>
            </a:r>
            <a:r>
              <a:rPr b="1" i="0" lang="pt-BR" sz="1400" u="sng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b="1" i="0" sz="1400" u="sng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 conteúdo de uma lista é acessado por meio de fatiamento (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slicing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) ou indexação.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9" name="Google Shape;229;g1007cb081d4_0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88800"/>
            <a:ext cx="7753859" cy="2211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1007cb081d4_0_312"/>
          <p:cNvSpPr/>
          <p:nvPr/>
        </p:nvSpPr>
        <p:spPr>
          <a:xfrm>
            <a:off x="671975" y="2028475"/>
            <a:ext cx="14931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1007cb081d4_0_312"/>
          <p:cNvSpPr txBox="1"/>
          <p:nvPr/>
        </p:nvSpPr>
        <p:spPr>
          <a:xfrm>
            <a:off x="3725375" y="1969225"/>
            <a:ext cx="65868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Intervalo [:3] seleciona apenas as três primeiras linhas </a:t>
            </a: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(índice = 0,1,2)</a:t>
            </a: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do DF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g1007cb081d4_0_312"/>
          <p:cNvCxnSpPr>
            <a:endCxn id="231" idx="1"/>
          </p:cNvCxnSpPr>
          <p:nvPr/>
        </p:nvCxnSpPr>
        <p:spPr>
          <a:xfrm flipH="1" rot="10800000">
            <a:off x="2179475" y="2184775"/>
            <a:ext cx="1545900" cy="12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g1007cb081d4_0_312"/>
          <p:cNvSpPr/>
          <p:nvPr/>
        </p:nvSpPr>
        <p:spPr>
          <a:xfrm rot="5400000">
            <a:off x="-108875" y="3294725"/>
            <a:ext cx="1056900" cy="410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1007cb081d4_0_312"/>
          <p:cNvSpPr txBox="1"/>
          <p:nvPr/>
        </p:nvSpPr>
        <p:spPr>
          <a:xfrm>
            <a:off x="900575" y="4024325"/>
            <a:ext cx="16710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Índice das linhas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1007cb081d4_0_312"/>
          <p:cNvCxnSpPr>
            <a:stCxn id="233" idx="3"/>
            <a:endCxn id="234" idx="1"/>
          </p:cNvCxnSpPr>
          <p:nvPr/>
        </p:nvCxnSpPr>
        <p:spPr>
          <a:xfrm flipH="1" rot="-5400000">
            <a:off x="554275" y="3893675"/>
            <a:ext cx="211500" cy="480900"/>
          </a:xfrm>
          <a:prstGeom prst="bent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g1007cb081d4_0_312"/>
          <p:cNvSpPr txBox="1"/>
          <p:nvPr/>
        </p:nvSpPr>
        <p:spPr>
          <a:xfrm>
            <a:off x="3196525" y="3981375"/>
            <a:ext cx="26880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Cabeçalho também é exibido</a:t>
            </a:r>
            <a:endParaRPr b="1" i="0" sz="16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1007cb081d4_0_312"/>
          <p:cNvSpPr/>
          <p:nvPr/>
        </p:nvSpPr>
        <p:spPr>
          <a:xfrm>
            <a:off x="443375" y="2633150"/>
            <a:ext cx="74628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1007cb081d4_0_3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00" y="5329300"/>
            <a:ext cx="6903975" cy="13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1007cb081d4_0_312"/>
          <p:cNvSpPr/>
          <p:nvPr/>
        </p:nvSpPr>
        <p:spPr>
          <a:xfrm rot="5400000">
            <a:off x="193350" y="6228125"/>
            <a:ext cx="378300" cy="35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1007cb081d4_0_312"/>
          <p:cNvSpPr txBox="1"/>
          <p:nvPr/>
        </p:nvSpPr>
        <p:spPr>
          <a:xfrm>
            <a:off x="6125675" y="5420400"/>
            <a:ext cx="14151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Índice da linha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g1007cb081d4_0_312"/>
          <p:cNvCxnSpPr>
            <a:stCxn id="239" idx="2"/>
            <a:endCxn id="240" idx="0"/>
          </p:cNvCxnSpPr>
          <p:nvPr/>
        </p:nvCxnSpPr>
        <p:spPr>
          <a:xfrm flipH="1" rot="10800000">
            <a:off x="203400" y="5420525"/>
            <a:ext cx="6629700" cy="986700"/>
          </a:xfrm>
          <a:prstGeom prst="bentConnector4">
            <a:avLst>
              <a:gd fmla="val -1095" name="adj1"/>
              <a:gd fmla="val 124146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g1007cb081d4_0_312"/>
          <p:cNvSpPr/>
          <p:nvPr/>
        </p:nvSpPr>
        <p:spPr>
          <a:xfrm>
            <a:off x="1496550" y="5372800"/>
            <a:ext cx="592200" cy="31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1007cb081d4_0_312"/>
          <p:cNvSpPr txBox="1"/>
          <p:nvPr/>
        </p:nvSpPr>
        <p:spPr>
          <a:xfrm>
            <a:off x="2658575" y="5313550"/>
            <a:ext cx="29772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Seleciona e exibe a linha 2 do DF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g1007cb081d4_0_312"/>
          <p:cNvCxnSpPr>
            <a:stCxn id="242" idx="3"/>
            <a:endCxn id="243" idx="1"/>
          </p:cNvCxnSpPr>
          <p:nvPr/>
        </p:nvCxnSpPr>
        <p:spPr>
          <a:xfrm>
            <a:off x="2088750" y="5529100"/>
            <a:ext cx="569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g1007cb081d4_0_312"/>
          <p:cNvSpPr/>
          <p:nvPr/>
        </p:nvSpPr>
        <p:spPr>
          <a:xfrm>
            <a:off x="9124625" y="5761600"/>
            <a:ext cx="2070000" cy="7374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g1007cb081d4_0_3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4000" y="3548250"/>
            <a:ext cx="3146402" cy="9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007cb081d4_0_312"/>
          <p:cNvSpPr/>
          <p:nvPr/>
        </p:nvSpPr>
        <p:spPr>
          <a:xfrm rot="5400000">
            <a:off x="10425575" y="5955750"/>
            <a:ext cx="586800" cy="37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1007cb081d4_0_312"/>
          <p:cNvSpPr txBox="1"/>
          <p:nvPr>
            <p:ph idx="4294967295" type="title"/>
          </p:nvPr>
        </p:nvSpPr>
        <p:spPr>
          <a:xfrm>
            <a:off x="9129100" y="5846500"/>
            <a:ext cx="154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2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Continua</a:t>
            </a:r>
            <a:endParaRPr b="1" sz="2000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49" name="Google Shape;249;g1007cb081d4_0_312"/>
          <p:cNvSpPr txBox="1"/>
          <p:nvPr/>
        </p:nvSpPr>
        <p:spPr>
          <a:xfrm>
            <a:off x="557400" y="4612800"/>
            <a:ext cx="1107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Diferentemente das listas, o 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não comporta seleção de linhas por indexação! Para selecionar apenas </a:t>
            </a:r>
            <a:r>
              <a:rPr b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linha é preciso escrever o </a:t>
            </a:r>
            <a:r>
              <a:rPr lang="pt-BR" sz="16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intervalo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com </a:t>
            </a:r>
            <a:r>
              <a:rPr lang="pt-BR" sz="16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início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pt-BR" sz="1600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fim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 No exemplo abaixo, o início corresponde à </a:t>
            </a:r>
            <a:r>
              <a:rPr b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linha 2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 o fim à </a:t>
            </a:r>
            <a:r>
              <a:rPr b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linha 3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600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0174c69329_0_127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10174c69329_0_127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10174c69329_0_127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7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57" name="Google Shape;257;g10174c69329_0_127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18 - Dataframe do Pandas - Acessando os dados do Dataframe (4/4)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58" name="Google Shape;258;g10174c69329_0_127"/>
          <p:cNvSpPr txBox="1"/>
          <p:nvPr/>
        </p:nvSpPr>
        <p:spPr>
          <a:xfrm>
            <a:off x="1490625" y="1410650"/>
            <a:ext cx="497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exibir apenas o cabeçalho (a linha referente aos nomes das colunas):</a:t>
            </a:r>
            <a:endParaRPr sz="20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vendas_df[:</a:t>
            </a:r>
            <a:r>
              <a:rPr lang="pt-BR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pt-BR" sz="2000">
                <a:latin typeface="Lato"/>
                <a:ea typeface="Lato"/>
                <a:cs typeface="Lato"/>
                <a:sym typeface="Lato"/>
              </a:rPr>
              <a:t>]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0" i="0" sz="20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g10174c69329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8325" y="1263238"/>
            <a:ext cx="3875750" cy="13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10174c69329_0_127"/>
          <p:cNvSpPr txBox="1"/>
          <p:nvPr/>
        </p:nvSpPr>
        <p:spPr>
          <a:xfrm>
            <a:off x="1428825" y="3459775"/>
            <a:ext cx="509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exibir a linha de índice 0:  </a:t>
            </a:r>
            <a:r>
              <a:rPr lang="pt-BR" sz="2000">
                <a:latin typeface="Lato"/>
                <a:ea typeface="Lato"/>
                <a:cs typeface="Lato"/>
                <a:sym typeface="Lato"/>
              </a:rPr>
              <a:t>vendas_df[:</a:t>
            </a:r>
            <a:r>
              <a:rPr lang="pt-BR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pt-BR" sz="2000">
                <a:latin typeface="Lato"/>
                <a:ea typeface="Lato"/>
                <a:cs typeface="Lato"/>
                <a:sym typeface="Lato"/>
              </a:rPr>
              <a:t>]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...</a:t>
            </a:r>
            <a:endParaRPr b="0" i="0" sz="20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1" name="Google Shape;261;g10174c69329_0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1113" y="2936400"/>
            <a:ext cx="4350174" cy="144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10174c69329_0_127"/>
          <p:cNvSpPr txBox="1"/>
          <p:nvPr/>
        </p:nvSpPr>
        <p:spPr>
          <a:xfrm>
            <a:off x="1508775" y="4821575"/>
            <a:ext cx="4934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exibir um item específico: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vendas_df[</a:t>
            </a:r>
            <a:r>
              <a:rPr lang="pt-BR" sz="20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'Nome_Coluna'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][</a:t>
            </a:r>
            <a:r>
              <a:rPr lang="pt-BR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Índice da linha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] </a:t>
            </a:r>
            <a:endParaRPr b="0" i="0" sz="200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3" name="Google Shape;263;g10174c69329_0_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0650" y="4689000"/>
            <a:ext cx="4200626" cy="9731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g10174c69329_0_127"/>
          <p:cNvCxnSpPr/>
          <p:nvPr/>
        </p:nvCxnSpPr>
        <p:spPr>
          <a:xfrm flipH="1">
            <a:off x="564300" y="2731575"/>
            <a:ext cx="11063400" cy="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" name="Google Shape;265;g10174c69329_0_127"/>
          <p:cNvCxnSpPr/>
          <p:nvPr/>
        </p:nvCxnSpPr>
        <p:spPr>
          <a:xfrm flipH="1">
            <a:off x="564300" y="4612238"/>
            <a:ext cx="11063400" cy="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" name="Google Shape;266;g10174c69329_0_127"/>
          <p:cNvCxnSpPr/>
          <p:nvPr/>
        </p:nvCxnSpPr>
        <p:spPr>
          <a:xfrm flipH="1">
            <a:off x="564300" y="5755238"/>
            <a:ext cx="11063400" cy="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" name="Google Shape;267;g10174c69329_0_127"/>
          <p:cNvSpPr txBox="1"/>
          <p:nvPr/>
        </p:nvSpPr>
        <p:spPr>
          <a:xfrm>
            <a:off x="1490625" y="6027910"/>
            <a:ext cx="4971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Tentar acessar uma linha usando apenas um índice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vendas_df[</a:t>
            </a:r>
            <a:r>
              <a:rPr lang="pt-BR" sz="2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]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20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não é permitido</a:t>
            </a:r>
            <a:endParaRPr b="0" i="0" sz="2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8" name="Google Shape;268;g10174c69329_0_127"/>
          <p:cNvGrpSpPr/>
          <p:nvPr/>
        </p:nvGrpSpPr>
        <p:grpSpPr>
          <a:xfrm>
            <a:off x="8299475" y="5890996"/>
            <a:ext cx="2118300" cy="981829"/>
            <a:chOff x="8299475" y="5890996"/>
            <a:chExt cx="2118300" cy="981829"/>
          </a:xfrm>
        </p:grpSpPr>
        <p:pic>
          <p:nvPicPr>
            <p:cNvPr id="269" name="Google Shape;269;g10174c69329_0_1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569825" y="6354300"/>
              <a:ext cx="1577616" cy="51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g10174c69329_0_1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299475" y="5890996"/>
              <a:ext cx="2118300" cy="518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g10174c69329_0_127"/>
          <p:cNvSpPr/>
          <p:nvPr/>
        </p:nvSpPr>
        <p:spPr>
          <a:xfrm>
            <a:off x="10417775" y="5848625"/>
            <a:ext cx="770100" cy="784500"/>
          </a:xfrm>
          <a:prstGeom prst="mathMultiply">
            <a:avLst>
              <a:gd fmla="val 23520" name="adj1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07cb081d4_0_149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1007cb081d4_0_149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" name="Google Shape;278;g1007cb081d4_0_149"/>
          <p:cNvGrpSpPr/>
          <p:nvPr/>
        </p:nvGrpSpPr>
        <p:grpSpPr>
          <a:xfrm>
            <a:off x="9073363" y="6349174"/>
            <a:ext cx="2591640" cy="176974"/>
            <a:chOff x="0" y="0"/>
            <a:chExt cx="5183280" cy="353947"/>
          </a:xfrm>
        </p:grpSpPr>
        <p:sp>
          <p:nvSpPr>
            <p:cNvPr id="279" name="Google Shape;279;g1007cb081d4_0_149"/>
            <p:cNvSpPr txBox="1"/>
            <p:nvPr/>
          </p:nvSpPr>
          <p:spPr>
            <a:xfrm>
              <a:off x="196380" y="50186"/>
              <a:ext cx="49869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3988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7"/>
                <a:buFont typeface="Arial"/>
                <a:buNone/>
              </a:pPr>
              <a:r>
                <a:rPr b="0" i="0" lang="pt-BR" sz="667" u="none" cap="none" strike="noStrike">
                  <a:solidFill>
                    <a:srgbClr val="3474A6"/>
                  </a:solidFill>
                  <a:latin typeface="Lato"/>
                  <a:ea typeface="Lato"/>
                  <a:cs typeface="Lato"/>
                  <a:sym typeface="Lato"/>
                </a:rPr>
                <a:t>PYTHON IMPRESSIONADOR  I  HASHTAG TREINAMENTOS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0" name="Google Shape;280;g1007cb081d4_0_1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353947" cy="3539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1" name="Google Shape;281;g1007cb081d4_0_149"/>
          <p:cNvSpPr txBox="1"/>
          <p:nvPr/>
        </p:nvSpPr>
        <p:spPr>
          <a:xfrm>
            <a:off x="503093" y="1336200"/>
            <a:ext cx="1107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A análise de um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envolve o seu entendimento  e a obtenção de informações relevantes do DF para a solução de um determinado problema. Uma forma de extrair informações gerais de um  </a:t>
            </a:r>
            <a:r>
              <a:rPr i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se faz aplicando o método </a:t>
            </a:r>
            <a:r>
              <a:rPr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.info()</a:t>
            </a:r>
            <a:r>
              <a:rPr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.</a:t>
            </a:r>
            <a:endParaRPr b="0" i="0" sz="1050" u="none" cap="none" strike="noStrike">
              <a:solidFill>
                <a:srgbClr val="3474A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g1007cb081d4_0_149"/>
          <p:cNvSpPr txBox="1"/>
          <p:nvPr/>
        </p:nvSpPr>
        <p:spPr>
          <a:xfrm>
            <a:off x="8912975" y="2076000"/>
            <a:ext cx="3000000" cy="314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6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Note que, ao usar o m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étodo </a:t>
            </a:r>
            <a:r>
              <a:rPr lang="pt-BR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.info(),</a:t>
            </a:r>
            <a:r>
              <a:rPr b="0" i="0" lang="pt-BR" sz="1600" u="none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são impressas as seguintes informações: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Total de linhas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Nomes e quantidade de colunas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Valores não nulos existentes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Tipos de dados existentes em cada coluna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74A6"/>
              </a:buClr>
              <a:buSzPts val="1600"/>
              <a:buFont typeface="Lato"/>
              <a:buChar char="●"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Memória usada no armazenamento do DF</a:t>
            </a:r>
            <a:endParaRPr i="1"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g1007cb081d4_0_149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84" name="Google Shape;284;g1007cb081d4_0_149"/>
          <p:cNvSpPr txBox="1"/>
          <p:nvPr/>
        </p:nvSpPr>
        <p:spPr>
          <a:xfrm>
            <a:off x="443376" y="534375"/>
            <a:ext cx="1075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8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Dataframe do Pandas</a:t>
            </a:r>
            <a:r>
              <a:rPr b="1" i="0" lang="pt-BR" sz="2800" u="none" cap="none" strike="noStrike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 - </a:t>
            </a: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Análise de Dados (Dataframe)</a:t>
            </a:r>
            <a:endParaRPr b="1" i="0" sz="4166" u="none" cap="none" strike="noStrike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pic>
        <p:nvPicPr>
          <p:cNvPr id="285" name="Google Shape;285;g1007cb081d4_0_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88" y="2428200"/>
            <a:ext cx="5456627" cy="41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1007cb081d4_0_149"/>
          <p:cNvSpPr/>
          <p:nvPr/>
        </p:nvSpPr>
        <p:spPr>
          <a:xfrm>
            <a:off x="1765575" y="3152200"/>
            <a:ext cx="3000000" cy="24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007cb081d4_0_149"/>
          <p:cNvSpPr txBox="1"/>
          <p:nvPr/>
        </p:nvSpPr>
        <p:spPr>
          <a:xfrm>
            <a:off x="4709300" y="2290000"/>
            <a:ext cx="21777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347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3474A6"/>
                </a:solidFill>
                <a:latin typeface="Calibri"/>
                <a:ea typeface="Calibri"/>
                <a:cs typeface="Calibri"/>
                <a:sym typeface="Calibri"/>
              </a:rPr>
              <a:t>Número total de linhas</a:t>
            </a:r>
            <a:endParaRPr b="1" sz="1600" u="none" cap="none" strike="noStrike">
              <a:solidFill>
                <a:srgbClr val="3474A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1007cb081d4_0_149"/>
          <p:cNvCxnSpPr>
            <a:stCxn id="286" idx="3"/>
            <a:endCxn id="287" idx="2"/>
          </p:cNvCxnSpPr>
          <p:nvPr/>
        </p:nvCxnSpPr>
        <p:spPr>
          <a:xfrm flipH="1" rot="10800000">
            <a:off x="4765575" y="2721100"/>
            <a:ext cx="1032600" cy="555000"/>
          </a:xfrm>
          <a:prstGeom prst="bentConnector2">
            <a:avLst/>
          </a:prstGeom>
          <a:noFill/>
          <a:ln cap="flat" cmpd="sng" w="28575">
            <a:solidFill>
              <a:srgbClr val="3474A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g1007cb081d4_0_149"/>
          <p:cNvSpPr/>
          <p:nvPr/>
        </p:nvSpPr>
        <p:spPr>
          <a:xfrm>
            <a:off x="519575" y="6330450"/>
            <a:ext cx="2591700" cy="24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1007cb081d4_0_149"/>
          <p:cNvSpPr txBox="1"/>
          <p:nvPr/>
        </p:nvSpPr>
        <p:spPr>
          <a:xfrm>
            <a:off x="3899525" y="6238800"/>
            <a:ext cx="2459400" cy="431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memória usada para o DF</a:t>
            </a:r>
            <a:endParaRPr b="1" sz="16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g1007cb081d4_0_149"/>
          <p:cNvCxnSpPr>
            <a:stCxn id="289" idx="3"/>
            <a:endCxn id="290" idx="1"/>
          </p:cNvCxnSpPr>
          <p:nvPr/>
        </p:nvCxnSpPr>
        <p:spPr>
          <a:xfrm>
            <a:off x="3111275" y="6454350"/>
            <a:ext cx="7884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g1007cb081d4_0_149"/>
          <p:cNvSpPr/>
          <p:nvPr/>
        </p:nvSpPr>
        <p:spPr>
          <a:xfrm>
            <a:off x="3254650" y="3552475"/>
            <a:ext cx="1801800" cy="257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1007cb081d4_0_149"/>
          <p:cNvSpPr/>
          <p:nvPr/>
        </p:nvSpPr>
        <p:spPr>
          <a:xfrm rot="5400000">
            <a:off x="4184450" y="4475100"/>
            <a:ext cx="2615400" cy="726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1007cb081d4_0_149"/>
          <p:cNvSpPr txBox="1"/>
          <p:nvPr/>
        </p:nvSpPr>
        <p:spPr>
          <a:xfrm>
            <a:off x="6823313" y="3583050"/>
            <a:ext cx="1796400" cy="677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Informa os dados não nulos</a:t>
            </a:r>
            <a:endParaRPr b="1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1007cb081d4_0_149"/>
          <p:cNvSpPr txBox="1"/>
          <p:nvPr/>
        </p:nvSpPr>
        <p:spPr>
          <a:xfrm>
            <a:off x="7013963" y="4376700"/>
            <a:ext cx="1415100" cy="923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Tipos de dados de cada coluna</a:t>
            </a:r>
            <a:endParaRPr b="1" sz="16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g1007cb081d4_0_149"/>
          <p:cNvCxnSpPr>
            <a:stCxn id="293" idx="0"/>
            <a:endCxn id="295" idx="1"/>
          </p:cNvCxnSpPr>
          <p:nvPr/>
        </p:nvCxnSpPr>
        <p:spPr>
          <a:xfrm>
            <a:off x="5855450" y="4838400"/>
            <a:ext cx="1158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g1007cb081d4_0_149"/>
          <p:cNvCxnSpPr>
            <a:stCxn id="292" idx="0"/>
            <a:endCxn id="294" idx="1"/>
          </p:cNvCxnSpPr>
          <p:nvPr/>
        </p:nvCxnSpPr>
        <p:spPr>
          <a:xfrm flipH="1" rot="-5400000">
            <a:off x="5305000" y="2403025"/>
            <a:ext cx="369000" cy="2667900"/>
          </a:xfrm>
          <a:prstGeom prst="bentConnector4">
            <a:avLst>
              <a:gd fmla="val -25589" name="adj1"/>
              <a:gd fmla="val 83323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g1007cb081d4_0_149"/>
          <p:cNvSpPr txBox="1"/>
          <p:nvPr/>
        </p:nvSpPr>
        <p:spPr>
          <a:xfrm>
            <a:off x="7134075" y="5352575"/>
            <a:ext cx="4954500" cy="1477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OBSERVAÇÃO:</a:t>
            </a:r>
            <a:endParaRPr b="1" u="sng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Informações vazias ou não preenchidas são indicadas na coluna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Non-Null Count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RESUMINDO:</a:t>
            </a:r>
            <a:endParaRPr b="1" u="sng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 método usado faz um resumo das principais características do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0174c69329_0_149"/>
          <p:cNvSpPr/>
          <p:nvPr/>
        </p:nvSpPr>
        <p:spPr>
          <a:xfrm>
            <a:off x="0" y="452121"/>
            <a:ext cx="12192000" cy="737400"/>
          </a:xfrm>
          <a:prstGeom prst="rect">
            <a:avLst/>
          </a:prstGeom>
          <a:solidFill>
            <a:srgbClr val="3474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10174c69329_0_149"/>
          <p:cNvSpPr/>
          <p:nvPr/>
        </p:nvSpPr>
        <p:spPr>
          <a:xfrm rot="10800000">
            <a:off x="11194356" y="-76"/>
            <a:ext cx="743400" cy="11895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10174c69329_0_149"/>
          <p:cNvSpPr txBox="1"/>
          <p:nvPr/>
        </p:nvSpPr>
        <p:spPr>
          <a:xfrm>
            <a:off x="11336400" y="452125"/>
            <a:ext cx="5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0</a:t>
            </a:r>
            <a:r>
              <a:rPr lang="pt-BR" sz="3000">
                <a:solidFill>
                  <a:srgbClr val="3474A6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9</a:t>
            </a:r>
            <a:endParaRPr b="0" i="0" sz="3000" u="none" cap="none" strike="noStrike">
              <a:solidFill>
                <a:srgbClr val="3474A6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306" name="Google Shape;306;g10174c69329_0_149"/>
          <p:cNvSpPr txBox="1"/>
          <p:nvPr/>
        </p:nvSpPr>
        <p:spPr>
          <a:xfrm>
            <a:off x="443376" y="534375"/>
            <a:ext cx="107511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lt1"/>
                </a:solidFill>
                <a:latin typeface="Big Shoulders Display"/>
                <a:ea typeface="Big Shoulders Display"/>
                <a:cs typeface="Big Shoulders Display"/>
                <a:sym typeface="Big Shoulders Display"/>
              </a:rPr>
              <a:t>Módulo 18 - Dataframe do Pandas - Análise de Dados (Aplicação)</a:t>
            </a:r>
            <a:endParaRPr b="1" sz="4166">
              <a:solidFill>
                <a:schemeClr val="lt1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  <a:p>
            <a:pPr indent="0" lvl="0" marL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307" name="Google Shape;307;g10174c69329_0_149"/>
          <p:cNvSpPr txBox="1"/>
          <p:nvPr/>
        </p:nvSpPr>
        <p:spPr>
          <a:xfrm>
            <a:off x="274500" y="1260000"/>
            <a:ext cx="5424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Recapitulando…</a:t>
            </a:r>
            <a:endParaRPr b="1" sz="20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criar um novo 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somente com a coluna </a:t>
            </a:r>
            <a:r>
              <a:rPr lang="pt-BR" sz="16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'ID Cliente'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, basta passar o nome desta coluna entre colchetes...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8" name="Google Shape;308;g10174c69329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050" y="2352000"/>
            <a:ext cx="4349801" cy="292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g10174c69329_0_149"/>
          <p:cNvCxnSpPr/>
          <p:nvPr/>
        </p:nvCxnSpPr>
        <p:spPr>
          <a:xfrm>
            <a:off x="5972025" y="1409375"/>
            <a:ext cx="28800" cy="390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0" name="Google Shape;310;g10174c69329_0_149"/>
          <p:cNvSpPr txBox="1"/>
          <p:nvPr/>
        </p:nvSpPr>
        <p:spPr>
          <a:xfrm>
            <a:off x="6401900" y="1414050"/>
            <a:ext cx="5424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Para criar um novo 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que possui 3 colunas do original, basta passar uma lista contendo o nome das colunas desejadas entre os colchetes...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1" name="Google Shape;311;g10174c69329_0_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050" y="2533800"/>
            <a:ext cx="5984601" cy="259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10174c69329_0_149"/>
          <p:cNvSpPr txBox="1"/>
          <p:nvPr/>
        </p:nvSpPr>
        <p:spPr>
          <a:xfrm>
            <a:off x="3746250" y="5428775"/>
            <a:ext cx="4699500" cy="1262100"/>
          </a:xfrm>
          <a:prstGeom prst="rect">
            <a:avLst/>
          </a:prstGeom>
          <a:solidFill>
            <a:srgbClr val="FFDB4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sng" cap="none" strike="noStrike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OBSERVAÇÃO:</a:t>
            </a:r>
            <a:endParaRPr b="1" i="0" sz="1400" u="sng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Os nomes das colunas passadas entre colchetes devem ser idênticos aos nomes das colunas mostradas no </a:t>
            </a:r>
            <a:r>
              <a:rPr b="1" i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b="1" lang="pt-BR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i="0" sz="1400" u="none" cap="none" strike="noStrike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g10174c69329_0_149"/>
          <p:cNvSpPr txBox="1"/>
          <p:nvPr/>
        </p:nvSpPr>
        <p:spPr>
          <a:xfrm>
            <a:off x="9560525" y="3388975"/>
            <a:ext cx="25461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possui apenas informações relativas aos </a:t>
            </a:r>
            <a:r>
              <a:rPr lang="pt-BR" sz="16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'ID Produto'; 'Quantidade Vendida' ; 'Quantidade Devolvida'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Com este </a:t>
            </a: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reduzido, fica mais fácil realizar o controle do estoque dos produtos, pois só há as informações mais relevantes.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g10174c69329_0_149"/>
          <p:cNvSpPr txBox="1"/>
          <p:nvPr/>
        </p:nvSpPr>
        <p:spPr>
          <a:xfrm>
            <a:off x="2824350" y="3388975"/>
            <a:ext cx="2331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1"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pt-BR" sz="1600">
                <a:solidFill>
                  <a:srgbClr val="3474A6"/>
                </a:solidFill>
                <a:latin typeface="Lato"/>
                <a:ea typeface="Lato"/>
                <a:cs typeface="Lato"/>
                <a:sym typeface="Lato"/>
              </a:rPr>
              <a:t> contendo apenas as informações dos ID dos clientes.</a:t>
            </a:r>
            <a:endParaRPr sz="1600">
              <a:solidFill>
                <a:srgbClr val="3474A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2021-10-21T15:34:20Z</dcterms:created>
  <dc:creator>Marcus Vinicius Cavalcanti de Jesus</dc:creator>
</cp:coreProperties>
</file>