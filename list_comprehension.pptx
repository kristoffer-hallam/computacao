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Lato"/>
      <p:regular r:id="rId11"/>
      <p:bold r:id="rId12"/>
      <p:italic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Big Shoulders Dis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1" roundtripDataSignature="AMtx7mgUylFYe+LUx4AmS6RheIOMYOWP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igShouldersDisplay-bold.fntdata"/><Relationship Id="rId11" Type="http://schemas.openxmlformats.org/officeDocument/2006/relationships/font" Target="fonts/Lato-regular.fntdata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font" Target="fonts/Lato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19" Type="http://schemas.openxmlformats.org/officeDocument/2006/relationships/font" Target="fonts/BigShouldersDisplay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abc9e995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fabc9e99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abc9e995c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fabc9e995c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abc9e995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fabc9e995c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abc9e995c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fabc9e995c_0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abc9e995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fabc9e995c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abc9e995c_0_0"/>
          <p:cNvSpPr/>
          <p:nvPr/>
        </p:nvSpPr>
        <p:spPr>
          <a:xfrm rot="10800000">
            <a:off x="104" y="1677300"/>
            <a:ext cx="122193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fabc9e995c_0_0"/>
          <p:cNvSpPr/>
          <p:nvPr/>
        </p:nvSpPr>
        <p:spPr>
          <a:xfrm>
            <a:off x="0" y="3549600"/>
            <a:ext cx="12192000" cy="11187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fabc9e995c_0_0"/>
          <p:cNvSpPr txBox="1"/>
          <p:nvPr>
            <p:ph type="title"/>
          </p:nvPr>
        </p:nvSpPr>
        <p:spPr>
          <a:xfrm>
            <a:off x="838200" y="16092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16</a:t>
            </a:r>
            <a:endParaRPr b="1" sz="58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87" name="Google Shape;87;gfabc9e995c_0_0"/>
          <p:cNvSpPr txBox="1"/>
          <p:nvPr>
            <p:ph idx="1" type="body"/>
          </p:nvPr>
        </p:nvSpPr>
        <p:spPr>
          <a:xfrm>
            <a:off x="838200" y="3609525"/>
            <a:ext cx="10515600" cy="1554600"/>
          </a:xfrm>
          <a:prstGeom prst="rect">
            <a:avLst/>
          </a:prstGeom>
          <a:effectLst>
            <a:outerShdw blurRad="57150" rotWithShape="0" algn="bl">
              <a:srgbClr val="FFFFFF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6466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List Comprehension filtrando com if</a:t>
            </a:r>
            <a:endParaRPr sz="5100">
              <a:solidFill>
                <a:schemeClr val="lt1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452121"/>
            <a:ext cx="12192000" cy="737303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 rot="10800000">
            <a:off x="11194417" y="1"/>
            <a:ext cx="743339" cy="1189423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"/>
          <p:cNvGrpSpPr/>
          <p:nvPr/>
        </p:nvGrpSpPr>
        <p:grpSpPr>
          <a:xfrm>
            <a:off x="9073363" y="6349174"/>
            <a:ext cx="2591633" cy="176974"/>
            <a:chOff x="0" y="0"/>
            <a:chExt cx="5183266" cy="353948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196380" y="50186"/>
              <a:ext cx="4986886" cy="209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398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667" u="none" cap="none" strike="noStrike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PYTHON IMPRESSIONADOR  I  HASHTAG TREINAMENTOS </a:t>
              </a:r>
              <a:endParaRPr/>
            </a:p>
          </p:txBody>
        </p:sp>
        <p:pic>
          <p:nvPicPr>
            <p:cNvPr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53948" cy="353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1"/>
          <p:cNvSpPr txBox="1"/>
          <p:nvPr/>
        </p:nvSpPr>
        <p:spPr>
          <a:xfrm>
            <a:off x="503093" y="1412400"/>
            <a:ext cx="11077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i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permite realizar uma seleção (filtragem) dos itens que farão parte de uma lista, segundo uma condição estabelecida. A condição segue a lógica condicional </a:t>
            </a:r>
            <a:r>
              <a:rPr i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if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A sua estrutura pode ser vista no esquema abaixo.</a:t>
            </a:r>
            <a:endParaRPr sz="20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1143200" y="2688425"/>
            <a:ext cx="9095525" cy="2099950"/>
            <a:chOff x="1143200" y="2688425"/>
            <a:chExt cx="9095525" cy="2099950"/>
          </a:xfrm>
        </p:grpSpPr>
        <p:grpSp>
          <p:nvGrpSpPr>
            <p:cNvPr id="99" name="Google Shape;99;p1"/>
            <p:cNvGrpSpPr/>
            <p:nvPr/>
          </p:nvGrpSpPr>
          <p:grpSpPr>
            <a:xfrm>
              <a:off x="1143200" y="2688425"/>
              <a:ext cx="9095525" cy="1189425"/>
              <a:chOff x="1143213" y="3215288"/>
              <a:chExt cx="9095525" cy="1189425"/>
            </a:xfrm>
          </p:grpSpPr>
          <p:pic>
            <p:nvPicPr>
              <p:cNvPr id="100" name="Google Shape;100;p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143213" y="3215288"/>
                <a:ext cx="9095525" cy="11894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28588" rotWithShape="0" algn="bl" dir="5400000" dist="19050">
                  <a:schemeClr val="dk1"/>
                </a:outerShdw>
              </a:effectLst>
            </p:spPr>
          </p:pic>
          <p:sp>
            <p:nvSpPr>
              <p:cNvPr id="101" name="Google Shape;101;p1"/>
              <p:cNvSpPr/>
              <p:nvPr/>
            </p:nvSpPr>
            <p:spPr>
              <a:xfrm>
                <a:off x="6887050" y="3806750"/>
                <a:ext cx="1612800" cy="4233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2847825" y="3806750"/>
                <a:ext cx="3966600" cy="4233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381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" name="Google Shape;103;p1"/>
            <p:cNvSpPr txBox="1"/>
            <p:nvPr/>
          </p:nvSpPr>
          <p:spPr>
            <a:xfrm>
              <a:off x="3819563" y="4111263"/>
              <a:ext cx="1990500" cy="431100"/>
            </a:xfrm>
            <a:prstGeom prst="rect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List Comprehension</a:t>
              </a:r>
              <a:endParaRPr b="1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" name="Google Shape;104;p1"/>
            <p:cNvCxnSpPr>
              <a:stCxn id="103" idx="0"/>
              <a:endCxn id="102" idx="2"/>
            </p:cNvCxnSpPr>
            <p:nvPr/>
          </p:nvCxnSpPr>
          <p:spPr>
            <a:xfrm flipH="1" rot="10800000">
              <a:off x="4814813" y="3703263"/>
              <a:ext cx="16200" cy="4080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5" name="Google Shape;105;p1"/>
            <p:cNvSpPr txBox="1"/>
            <p:nvPr/>
          </p:nvSpPr>
          <p:spPr>
            <a:xfrm>
              <a:off x="6701875" y="4111275"/>
              <a:ext cx="1990500" cy="6771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Expressão Condicional</a:t>
              </a:r>
              <a:endParaRPr b="1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" name="Google Shape;106;p1"/>
            <p:cNvCxnSpPr>
              <a:stCxn id="105" idx="0"/>
              <a:endCxn id="101" idx="2"/>
            </p:cNvCxnSpPr>
            <p:nvPr/>
          </p:nvCxnSpPr>
          <p:spPr>
            <a:xfrm rot="10800000">
              <a:off x="7693525" y="3703275"/>
              <a:ext cx="3600" cy="408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7" name="Google Shape;107;p1"/>
          <p:cNvSpPr txBox="1"/>
          <p:nvPr/>
        </p:nvSpPr>
        <p:spPr>
          <a:xfrm>
            <a:off x="7163300" y="5047775"/>
            <a:ext cx="4699500" cy="16932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OBSERVAÇÃO:</a:t>
            </a:r>
            <a:endParaRPr b="1" u="sng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Não se coloca dois pontos após a expressão condicional </a:t>
            </a:r>
            <a:r>
              <a:rPr b="1" i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if</a:t>
            </a: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quando esta é usada em conjunto com a </a:t>
            </a:r>
            <a:r>
              <a:rPr b="1" i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Com isso, também deixam de ser usadas as indentações, já que não há linhas de código subsequentes.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94475" y="5109425"/>
            <a:ext cx="6807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Note que a variável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recebe o bloco de código referente à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com a inclusão da estrutura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if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no final. Isto significa que a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terá somente aquelas expressões cujos itens do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iterable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800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respeitarem a condição determinada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Portanto, a condição é posicionada no final da linha de código para que a lista seja filtrada.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"/>
          <p:cNvCxnSpPr/>
          <p:nvPr/>
        </p:nvCxnSpPr>
        <p:spPr>
          <a:xfrm>
            <a:off x="7032350" y="4911125"/>
            <a:ext cx="0" cy="196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0" name="Google Shape;110;p1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01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16 - List Comprehension filtrando com if - Estrutura</a:t>
            </a:r>
            <a:endParaRPr b="1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abc9e995c_0_316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fabc9e995c_0_316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fabc9e995c_0_316"/>
          <p:cNvSpPr txBox="1"/>
          <p:nvPr/>
        </p:nvSpPr>
        <p:spPr>
          <a:xfrm>
            <a:off x="443364" y="534368"/>
            <a:ext cx="1019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16 - List Comprehension filtrando com if - Exemplo For Tradicional (1/2)</a:t>
            </a:r>
            <a:endParaRPr b="1" sz="2800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grpSp>
        <p:nvGrpSpPr>
          <p:cNvPr id="119" name="Google Shape;119;gfabc9e995c_0_316"/>
          <p:cNvGrpSpPr/>
          <p:nvPr/>
        </p:nvGrpSpPr>
        <p:grpSpPr>
          <a:xfrm>
            <a:off x="9073363" y="6349174"/>
            <a:ext cx="2591640" cy="176974"/>
            <a:chOff x="0" y="0"/>
            <a:chExt cx="5183280" cy="353947"/>
          </a:xfrm>
        </p:grpSpPr>
        <p:sp>
          <p:nvSpPr>
            <p:cNvPr id="120" name="Google Shape;120;gfabc9e995c_0_316"/>
            <p:cNvSpPr txBox="1"/>
            <p:nvPr/>
          </p:nvSpPr>
          <p:spPr>
            <a:xfrm>
              <a:off x="196380" y="50186"/>
              <a:ext cx="49869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398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667" u="none" cap="none" strike="noStrike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PYTHON IMPRESSIONADOR  I  HASHTAG TREINAMENTOS </a:t>
              </a:r>
              <a:endParaRPr/>
            </a:p>
          </p:txBody>
        </p:sp>
        <p:pic>
          <p:nvPicPr>
            <p:cNvPr id="121" name="Google Shape;121;gfabc9e995c_0_3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53947" cy="3539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gfabc9e995c_0_316"/>
          <p:cNvSpPr txBox="1"/>
          <p:nvPr/>
        </p:nvSpPr>
        <p:spPr>
          <a:xfrm>
            <a:off x="8095198" y="3624187"/>
            <a:ext cx="3944400" cy="304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Note que não há nenhuma conexão entre a lista de produtos e a lista de vendas de cada produto. Eles só se apresentam na mesma ordem.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Fazendo por meio da repetição </a:t>
            </a: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for 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tradicional</a:t>
            </a: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seleção dos produtos que bateram a meta de vendas é obtida por meio do código ao lado.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Repare que 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foram necessários </a:t>
            </a:r>
            <a:r>
              <a:rPr lang="pt-BR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4 linhas de código 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obter a nova lista.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gfabc9e995c_0_316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02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124" name="Google Shape;124;gfabc9e995c_0_3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75" y="4172475"/>
            <a:ext cx="7760200" cy="2431425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5400000" dist="19050">
              <a:srgbClr val="000000">
                <a:alpha val="94000"/>
              </a:srgbClr>
            </a:outerShdw>
          </a:effectLst>
        </p:spPr>
      </p:pic>
      <p:sp>
        <p:nvSpPr>
          <p:cNvPr id="125" name="Google Shape;125;gfabc9e995c_0_316"/>
          <p:cNvSpPr txBox="1"/>
          <p:nvPr/>
        </p:nvSpPr>
        <p:spPr>
          <a:xfrm>
            <a:off x="4265550" y="3527475"/>
            <a:ext cx="3660900" cy="4926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Fazendo pelo FOR Tradicional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fabc9e995c_0_316"/>
          <p:cNvSpPr txBox="1"/>
          <p:nvPr/>
        </p:nvSpPr>
        <p:spPr>
          <a:xfrm>
            <a:off x="503100" y="1184375"/>
            <a:ext cx="1107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Exemplo: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Imagine que se queira criar uma lista de produtos que bateram a meta de vendas, segundo as variáveis abaixo:</a:t>
            </a:r>
            <a:endParaRPr b="0" i="0" sz="125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gfabc9e995c_0_3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926050"/>
            <a:ext cx="9698238" cy="1312275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5400000" dist="19050">
              <a:srgbClr val="000000">
                <a:alpha val="94000"/>
              </a:srgbClr>
            </a:outerShdw>
          </a:effectLst>
        </p:spPr>
      </p:pic>
      <p:sp>
        <p:nvSpPr>
          <p:cNvPr id="128" name="Google Shape;128;gfabc9e995c_0_316"/>
          <p:cNvSpPr/>
          <p:nvPr/>
        </p:nvSpPr>
        <p:spPr>
          <a:xfrm>
            <a:off x="813650" y="2188625"/>
            <a:ext cx="1656300" cy="24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fabc9e995c_0_316"/>
          <p:cNvSpPr txBox="1"/>
          <p:nvPr/>
        </p:nvSpPr>
        <p:spPr>
          <a:xfrm>
            <a:off x="3645600" y="1910550"/>
            <a:ext cx="26688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de vendas dos produtos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fabc9e995c_0_316"/>
          <p:cNvCxnSpPr>
            <a:stCxn id="128" idx="3"/>
            <a:endCxn id="129" idx="1"/>
          </p:cNvCxnSpPr>
          <p:nvPr/>
        </p:nvCxnSpPr>
        <p:spPr>
          <a:xfrm flipH="1" rot="10800000">
            <a:off x="2469950" y="2126075"/>
            <a:ext cx="1175700" cy="1869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" name="Google Shape;131;gfabc9e995c_0_316"/>
          <p:cNvSpPr/>
          <p:nvPr/>
        </p:nvSpPr>
        <p:spPr>
          <a:xfrm>
            <a:off x="813650" y="2722200"/>
            <a:ext cx="7875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fabc9e995c_0_316"/>
          <p:cNvSpPr txBox="1"/>
          <p:nvPr/>
        </p:nvSpPr>
        <p:spPr>
          <a:xfrm>
            <a:off x="10209950" y="2698050"/>
            <a:ext cx="17280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lista de produtos </a:t>
            </a:r>
            <a:endParaRPr b="1" sz="1600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fabc9e995c_0_316"/>
          <p:cNvSpPr/>
          <p:nvPr/>
        </p:nvSpPr>
        <p:spPr>
          <a:xfrm>
            <a:off x="824725" y="2409425"/>
            <a:ext cx="56700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fabc9e995c_0_316"/>
          <p:cNvSpPr txBox="1"/>
          <p:nvPr/>
        </p:nvSpPr>
        <p:spPr>
          <a:xfrm>
            <a:off x="8768550" y="1790825"/>
            <a:ext cx="1600200" cy="677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lista de venda de cada produto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gfabc9e995c_0_316"/>
          <p:cNvCxnSpPr>
            <a:stCxn id="133" idx="3"/>
            <a:endCxn id="134" idx="1"/>
          </p:cNvCxnSpPr>
          <p:nvPr/>
        </p:nvCxnSpPr>
        <p:spPr>
          <a:xfrm flipH="1" rot="10800000">
            <a:off x="6494725" y="2129525"/>
            <a:ext cx="2273700" cy="4362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" name="Google Shape;136;gfabc9e995c_0_316"/>
          <p:cNvCxnSpPr>
            <a:stCxn id="131" idx="3"/>
            <a:endCxn id="132" idx="1"/>
          </p:cNvCxnSpPr>
          <p:nvPr/>
        </p:nvCxnSpPr>
        <p:spPr>
          <a:xfrm>
            <a:off x="8688650" y="2913600"/>
            <a:ext cx="1521300" cy="0"/>
          </a:xfrm>
          <a:prstGeom prst="straightConnector1">
            <a:avLst/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gfabc9e995c_0_316"/>
          <p:cNvSpPr/>
          <p:nvPr/>
        </p:nvSpPr>
        <p:spPr>
          <a:xfrm>
            <a:off x="741025" y="4318850"/>
            <a:ext cx="7206600" cy="1409400"/>
          </a:xfrm>
          <a:prstGeom prst="bracePair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fabc9e995c_0_316"/>
          <p:cNvSpPr/>
          <p:nvPr/>
        </p:nvSpPr>
        <p:spPr>
          <a:xfrm>
            <a:off x="977825" y="5023675"/>
            <a:ext cx="606000" cy="24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fabc9e995c_0_316"/>
          <p:cNvSpPr/>
          <p:nvPr/>
        </p:nvSpPr>
        <p:spPr>
          <a:xfrm>
            <a:off x="977825" y="5346000"/>
            <a:ext cx="606000" cy="24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fabc9e995c_0_316"/>
          <p:cNvSpPr/>
          <p:nvPr/>
        </p:nvSpPr>
        <p:spPr>
          <a:xfrm>
            <a:off x="1587425" y="5346000"/>
            <a:ext cx="606000" cy="24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gfabc9e995c_0_154"/>
          <p:cNvGrpSpPr/>
          <p:nvPr/>
        </p:nvGrpSpPr>
        <p:grpSpPr>
          <a:xfrm>
            <a:off x="9073363" y="6349174"/>
            <a:ext cx="2591640" cy="176974"/>
            <a:chOff x="0" y="0"/>
            <a:chExt cx="5183280" cy="353947"/>
          </a:xfrm>
        </p:grpSpPr>
        <p:sp>
          <p:nvSpPr>
            <p:cNvPr id="146" name="Google Shape;146;gfabc9e995c_0_154"/>
            <p:cNvSpPr txBox="1"/>
            <p:nvPr/>
          </p:nvSpPr>
          <p:spPr>
            <a:xfrm>
              <a:off x="196380" y="50186"/>
              <a:ext cx="49869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398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667" u="none" cap="none" strike="noStrike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PYTHON IMPRESSIONADOR  I  HASHTAG TREINAMENTOS </a:t>
              </a:r>
              <a:endParaRPr/>
            </a:p>
          </p:txBody>
        </p:sp>
        <p:pic>
          <p:nvPicPr>
            <p:cNvPr id="147" name="Google Shape;147;gfabc9e995c_0_1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53947" cy="3539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gfabc9e995c_0_154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fabc9e995c_0_154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fabc9e995c_0_154"/>
          <p:cNvSpPr txBox="1"/>
          <p:nvPr/>
        </p:nvSpPr>
        <p:spPr>
          <a:xfrm>
            <a:off x="443364" y="534368"/>
            <a:ext cx="1019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16 - List Comprehension filtrando com if - Exemplo For Tradicional (2/2)</a:t>
            </a:r>
            <a:endParaRPr b="1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151" name="Google Shape;151;gfabc9e995c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75" y="1886475"/>
            <a:ext cx="7760200" cy="2431425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5400000" dist="19050">
              <a:srgbClr val="000000">
                <a:alpha val="94000"/>
              </a:srgbClr>
            </a:outerShdw>
          </a:effectLst>
        </p:spPr>
      </p:pic>
      <p:sp>
        <p:nvSpPr>
          <p:cNvPr id="152" name="Google Shape;152;gfabc9e995c_0_154"/>
          <p:cNvSpPr/>
          <p:nvPr/>
        </p:nvSpPr>
        <p:spPr>
          <a:xfrm>
            <a:off x="813650" y="2109375"/>
            <a:ext cx="39375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fabc9e995c_0_154"/>
          <p:cNvSpPr/>
          <p:nvPr/>
        </p:nvSpPr>
        <p:spPr>
          <a:xfrm>
            <a:off x="900925" y="2409425"/>
            <a:ext cx="58845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fabc9e995c_0_154"/>
          <p:cNvSpPr/>
          <p:nvPr/>
        </p:nvSpPr>
        <p:spPr>
          <a:xfrm>
            <a:off x="1380625" y="2722030"/>
            <a:ext cx="46782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fabc9e995c_0_154"/>
          <p:cNvSpPr/>
          <p:nvPr/>
        </p:nvSpPr>
        <p:spPr>
          <a:xfrm>
            <a:off x="2140250" y="3049425"/>
            <a:ext cx="55461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fabc9e995c_0_154"/>
          <p:cNvSpPr txBox="1"/>
          <p:nvPr/>
        </p:nvSpPr>
        <p:spPr>
          <a:xfrm>
            <a:off x="1087675" y="1287225"/>
            <a:ext cx="29889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1- </a:t>
            </a: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Iniciando uma nova lista vazia</a:t>
            </a:r>
            <a:endParaRPr b="1" sz="1600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fabc9e995c_0_154"/>
          <p:cNvCxnSpPr>
            <a:stCxn id="152" idx="1"/>
            <a:endCxn id="156" idx="1"/>
          </p:cNvCxnSpPr>
          <p:nvPr/>
        </p:nvCxnSpPr>
        <p:spPr>
          <a:xfrm flipH="1" rot="10800000">
            <a:off x="813650" y="1502775"/>
            <a:ext cx="273900" cy="762900"/>
          </a:xfrm>
          <a:prstGeom prst="bentConnector3">
            <a:avLst>
              <a:gd fmla="val -86939" name="adj1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gfabc9e995c_0_154"/>
          <p:cNvSpPr txBox="1"/>
          <p:nvPr/>
        </p:nvSpPr>
        <p:spPr>
          <a:xfrm>
            <a:off x="8115300" y="1265725"/>
            <a:ext cx="2339400" cy="1169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2- </a:t>
            </a:r>
            <a:r>
              <a:rPr b="1" i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Loop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que percorre a lista de produtos e os associa a índices (função enumerate*)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fabc9e995c_0_154"/>
          <p:cNvCxnSpPr>
            <a:stCxn id="153" idx="3"/>
            <a:endCxn id="158" idx="1"/>
          </p:cNvCxnSpPr>
          <p:nvPr/>
        </p:nvCxnSpPr>
        <p:spPr>
          <a:xfrm flipH="1" rot="10800000">
            <a:off x="6785425" y="1850525"/>
            <a:ext cx="1329900" cy="715200"/>
          </a:xfrm>
          <a:prstGeom prst="bentConnector3">
            <a:avLst>
              <a:gd fmla="val 49999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" name="Google Shape;160;gfabc9e995c_0_154"/>
          <p:cNvSpPr txBox="1"/>
          <p:nvPr/>
        </p:nvSpPr>
        <p:spPr>
          <a:xfrm>
            <a:off x="10785900" y="2104025"/>
            <a:ext cx="1329900" cy="92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3- </a:t>
            </a: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Condição que deve ser satisfeita</a:t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gfabc9e995c_0_154"/>
          <p:cNvCxnSpPr>
            <a:stCxn id="154" idx="3"/>
            <a:endCxn id="160" idx="1"/>
          </p:cNvCxnSpPr>
          <p:nvPr/>
        </p:nvCxnSpPr>
        <p:spPr>
          <a:xfrm flipH="1" rot="10800000">
            <a:off x="6058825" y="2565730"/>
            <a:ext cx="4727100" cy="312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" name="Google Shape;162;gfabc9e995c_0_154"/>
          <p:cNvSpPr txBox="1"/>
          <p:nvPr/>
        </p:nvSpPr>
        <p:spPr>
          <a:xfrm>
            <a:off x="8753100" y="2744025"/>
            <a:ext cx="1679400" cy="923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4- </a:t>
            </a:r>
            <a:r>
              <a:rPr b="1" lang="pt-BR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Item sendo incluído na lista a cada iteração</a:t>
            </a:r>
            <a:endParaRPr b="1" sz="16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fabc9e995c_0_154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03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64" name="Google Shape;164;gfabc9e995c_0_154"/>
          <p:cNvSpPr txBox="1"/>
          <p:nvPr/>
        </p:nvSpPr>
        <p:spPr>
          <a:xfrm>
            <a:off x="8094325" y="3722050"/>
            <a:ext cx="3937500" cy="923400"/>
          </a:xfrm>
          <a:prstGeom prst="rect">
            <a:avLst/>
          </a:prstGeom>
          <a:solidFill>
            <a:srgbClr val="FFDB4A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*A função </a:t>
            </a:r>
            <a:r>
              <a:rPr b="1" i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gera índices que são usados para correlacionar os itens da lista de produtos com os itens da lista de vendas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fabc9e995c_0_154"/>
          <p:cNvSpPr/>
          <p:nvPr/>
        </p:nvSpPr>
        <p:spPr>
          <a:xfrm>
            <a:off x="363225" y="3842977"/>
            <a:ext cx="52599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fabc9e995c_0_154"/>
          <p:cNvSpPr txBox="1"/>
          <p:nvPr/>
        </p:nvSpPr>
        <p:spPr>
          <a:xfrm>
            <a:off x="5733900" y="3786175"/>
            <a:ext cx="2140500" cy="923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5- </a:t>
            </a:r>
            <a:r>
              <a:rPr b="1" lang="pt-BR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Impressão dos produtos com vendas acima da meta</a:t>
            </a:r>
            <a:endParaRPr b="1" sz="16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fabc9e995c_0_154"/>
          <p:cNvSpPr txBox="1"/>
          <p:nvPr/>
        </p:nvSpPr>
        <p:spPr>
          <a:xfrm>
            <a:off x="114275" y="4786250"/>
            <a:ext cx="119175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 estrutura de repetição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percorre todos os itens da lista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produtos,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associando-os com o seu respectivo índice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(i)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criado pela função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enumerate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Cada venda é, então, associada ao seu produto por meio do índice e avaliada em relação à meta. Logo, o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produto[0]='vinho'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que vendeu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vendas_produtos[0]=1500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unidades superou em 500 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meta=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1000 unidades. Por conseguinte, este produto é adicionado à lista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produtos_acima_meta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Este processo é feito para todos os itens da lista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produtos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Repare que o produto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produto[1]=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'cafeteira'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não foi incluído na lista pois não superou a meta. Lembre-se que é necessário declarar a lista vazia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produtos_acima_meta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antes de iniciar 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caso contrário o erro de variável não definida é mostrado.</a:t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8" name="Google Shape;168;gfabc9e995c_0_154"/>
          <p:cNvCxnSpPr>
            <a:stCxn id="155" idx="3"/>
            <a:endCxn id="162" idx="1"/>
          </p:cNvCxnSpPr>
          <p:nvPr/>
        </p:nvCxnSpPr>
        <p:spPr>
          <a:xfrm>
            <a:off x="7686350" y="3205725"/>
            <a:ext cx="1066800" cy="0"/>
          </a:xfrm>
          <a:prstGeom prst="straightConnector1">
            <a:avLst/>
          </a:prstGeom>
          <a:noFill/>
          <a:ln cap="flat" cmpd="sng" w="28575">
            <a:solidFill>
              <a:srgbClr val="88888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gfabc9e995c_0_154"/>
          <p:cNvSpPr txBox="1"/>
          <p:nvPr/>
        </p:nvSpPr>
        <p:spPr>
          <a:xfrm>
            <a:off x="4265550" y="1241475"/>
            <a:ext cx="3660900" cy="4926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Fazendo pelo FOR Tradicional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fabc9e995c_0_291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fabc9e995c_0_291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gfabc9e995c_0_2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45125"/>
            <a:ext cx="11887198" cy="1094163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5400000" dist="19050">
              <a:srgbClr val="000000">
                <a:alpha val="94000"/>
              </a:srgbClr>
            </a:outerShdw>
          </a:effectLst>
        </p:spPr>
      </p:pic>
      <p:sp>
        <p:nvSpPr>
          <p:cNvPr id="177" name="Google Shape;177;gfabc9e995c_0_291"/>
          <p:cNvSpPr txBox="1"/>
          <p:nvPr/>
        </p:nvSpPr>
        <p:spPr>
          <a:xfrm>
            <a:off x="4072800" y="1697400"/>
            <a:ext cx="4046400" cy="4926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Fazendo por List Comprehension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fabc9e995c_0_291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04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79" name="Google Shape;179;gfabc9e995c_0_291"/>
          <p:cNvSpPr txBox="1"/>
          <p:nvPr/>
        </p:nvSpPr>
        <p:spPr>
          <a:xfrm>
            <a:off x="406825" y="4099225"/>
            <a:ext cx="11632800" cy="258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Fazendo por meio da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com 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if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seleção dos produtos que bateram a meta de vendas é obtida por meio do código acima.</a:t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Neste caso, basta juntar t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odas as linhas de código empregado no bloco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tradicional e escrevê-lo de acordo com a estrutura mostrada no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slide 01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Portanto, todos os elementos usados anteriormente são reaproveitados aqui também. O que muda é sua sintaxe e/ou configuração.</a:t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Note que pela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foi necessário apenas </a:t>
            </a:r>
            <a:r>
              <a:rPr lang="pt-BR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pt-BR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linha de código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obter a nova lista. Ao contrário do caso anterior, não foi preciso declarar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previamente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nenhuma lista vazia.</a:t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gfabc9e995c_0_291"/>
          <p:cNvSpPr txBox="1"/>
          <p:nvPr/>
        </p:nvSpPr>
        <p:spPr>
          <a:xfrm>
            <a:off x="503100" y="1260575"/>
            <a:ext cx="1107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Aplicando o novo conceito de </a:t>
            </a:r>
            <a:r>
              <a:rPr i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usando </a:t>
            </a:r>
            <a:r>
              <a:rPr i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if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para o mesmo exemplo prático...</a:t>
            </a:r>
            <a:endParaRPr b="0" i="0" sz="125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gfabc9e995c_0_291"/>
          <p:cNvSpPr/>
          <p:nvPr/>
        </p:nvSpPr>
        <p:spPr>
          <a:xfrm>
            <a:off x="595775" y="2455700"/>
            <a:ext cx="11443800" cy="492600"/>
          </a:xfrm>
          <a:prstGeom prst="bracePair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fabc9e995c_0_291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16 - List Comprehension filtrando com if - Exemplo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List Comprehension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(1/2)</a:t>
            </a:r>
            <a:endParaRPr b="1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fabc9e995c_0_177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fabc9e995c_0_177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fabc9e995c_0_177"/>
          <p:cNvSpPr txBox="1"/>
          <p:nvPr/>
        </p:nvSpPr>
        <p:spPr>
          <a:xfrm>
            <a:off x="4072800" y="1240200"/>
            <a:ext cx="4046400" cy="4926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Fazendo por List Comprehension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fabc9e995c_0_177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05</a:t>
            </a:r>
            <a:endParaRPr sz="3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grpSp>
        <p:nvGrpSpPr>
          <p:cNvPr id="191" name="Google Shape;191;gfabc9e995c_0_177"/>
          <p:cNvGrpSpPr/>
          <p:nvPr/>
        </p:nvGrpSpPr>
        <p:grpSpPr>
          <a:xfrm>
            <a:off x="152400" y="1822638"/>
            <a:ext cx="11887198" cy="2173850"/>
            <a:chOff x="152400" y="2508438"/>
            <a:chExt cx="11887198" cy="2173850"/>
          </a:xfrm>
        </p:grpSpPr>
        <p:grpSp>
          <p:nvGrpSpPr>
            <p:cNvPr id="192" name="Google Shape;192;gfabc9e995c_0_177"/>
            <p:cNvGrpSpPr/>
            <p:nvPr/>
          </p:nvGrpSpPr>
          <p:grpSpPr>
            <a:xfrm>
              <a:off x="152400" y="2508438"/>
              <a:ext cx="11887198" cy="2173850"/>
              <a:chOff x="152400" y="4489638"/>
              <a:chExt cx="11887198" cy="2173850"/>
            </a:xfrm>
          </p:grpSpPr>
          <p:grpSp>
            <p:nvGrpSpPr>
              <p:cNvPr id="193" name="Google Shape;193;gfabc9e995c_0_177"/>
              <p:cNvGrpSpPr/>
              <p:nvPr/>
            </p:nvGrpSpPr>
            <p:grpSpPr>
              <a:xfrm>
                <a:off x="9073363" y="6349174"/>
                <a:ext cx="2591640" cy="176974"/>
                <a:chOff x="0" y="0"/>
                <a:chExt cx="5183280" cy="353947"/>
              </a:xfrm>
            </p:grpSpPr>
            <p:sp>
              <p:nvSpPr>
                <p:cNvPr id="194" name="Google Shape;194;gfabc9e995c_0_177"/>
                <p:cNvSpPr txBox="1"/>
                <p:nvPr/>
              </p:nvSpPr>
              <p:spPr>
                <a:xfrm>
                  <a:off x="196380" y="50186"/>
                  <a:ext cx="4986900" cy="205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r">
                    <a:lnSpc>
                      <a:spcPct val="13988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pt-BR" sz="667" u="none" cap="none" strike="noStrike">
                      <a:solidFill>
                        <a:srgbClr val="3474A6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PYTHON IMPRESSIONADOR  I  HASHTAG TREINAMENTOS </a:t>
                  </a:r>
                  <a:endParaRPr/>
                </a:p>
              </p:txBody>
            </p:sp>
            <p:pic>
              <p:nvPicPr>
                <p:cNvPr id="195" name="Google Shape;195;gfabc9e995c_0_17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0" y="0"/>
                  <a:ext cx="353947" cy="3539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96" name="Google Shape;196;gfabc9e995c_0_17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52400" y="5569325"/>
                <a:ext cx="11887198" cy="109416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rotWithShape="0" algn="bl" dir="5400000" dist="19050">
                  <a:srgbClr val="000000">
                    <a:alpha val="94000"/>
                  </a:srgbClr>
                </a:outerShdw>
              </a:effectLst>
            </p:spPr>
          </p:pic>
          <p:sp>
            <p:nvSpPr>
              <p:cNvPr id="197" name="Google Shape;197;gfabc9e995c_0_177"/>
              <p:cNvSpPr/>
              <p:nvPr/>
            </p:nvSpPr>
            <p:spPr>
              <a:xfrm>
                <a:off x="738300" y="5654400"/>
                <a:ext cx="2235000" cy="3393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3474A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gfabc9e995c_0_177"/>
              <p:cNvSpPr/>
              <p:nvPr/>
            </p:nvSpPr>
            <p:spPr>
              <a:xfrm>
                <a:off x="3302625" y="5654400"/>
                <a:ext cx="939900" cy="3393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gfabc9e995c_0_177"/>
              <p:cNvSpPr txBox="1"/>
              <p:nvPr/>
            </p:nvSpPr>
            <p:spPr>
              <a:xfrm>
                <a:off x="738300" y="4489638"/>
                <a:ext cx="2005200" cy="923400"/>
              </a:xfrm>
              <a:prstGeom prst="rect">
                <a:avLst/>
              </a:prstGeom>
              <a:noFill/>
              <a:ln cap="flat" cmpd="sng" w="19050">
                <a:solidFill>
                  <a:srgbClr val="3474A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3474A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1- Nova l</a:t>
                </a:r>
                <a:r>
                  <a:rPr b="1" lang="pt-BR" sz="1600">
                    <a:solidFill>
                      <a:srgbClr val="3474A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ista que recebe os produtos acima da meta</a:t>
                </a:r>
                <a:endParaRPr b="1" sz="1600">
                  <a:solidFill>
                    <a:srgbClr val="3474A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gfabc9e995c_0_177"/>
              <p:cNvSpPr txBox="1"/>
              <p:nvPr/>
            </p:nvSpPr>
            <p:spPr>
              <a:xfrm>
                <a:off x="2927675" y="4489638"/>
                <a:ext cx="1627200" cy="923400"/>
              </a:xfrm>
              <a:prstGeom prst="rect">
                <a:avLst/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chemeClr val="accent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2- </a:t>
                </a:r>
                <a:r>
                  <a:rPr b="1" lang="pt-BR" sz="1600">
                    <a:solidFill>
                      <a:schemeClr val="accent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Item a ser incluído na nova lista</a:t>
                </a:r>
                <a:endParaRPr b="1" sz="160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gfabc9e995c_0_177"/>
              <p:cNvSpPr txBox="1"/>
              <p:nvPr/>
            </p:nvSpPr>
            <p:spPr>
              <a:xfrm>
                <a:off x="5092475" y="4489650"/>
                <a:ext cx="2811600" cy="923400"/>
              </a:xfrm>
              <a:prstGeom prst="rect">
                <a:avLst/>
              </a:pr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3- </a:t>
                </a:r>
                <a:r>
                  <a:rPr b="1" i="1" lang="pt-BR" sz="1600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Loop for</a:t>
                </a:r>
                <a:r>
                  <a:rPr b="1" lang="pt-BR" sz="1600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lang="pt-BR" sz="1600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que percorre a lista de produtos e os associa a índices (função enumerate)</a:t>
                </a:r>
                <a:endParaRPr b="1" sz="16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gfabc9e995c_0_177"/>
              <p:cNvSpPr/>
              <p:nvPr/>
            </p:nvSpPr>
            <p:spPr>
              <a:xfrm>
                <a:off x="4315525" y="5651425"/>
                <a:ext cx="4227900" cy="3393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gfabc9e995c_0_177"/>
              <p:cNvSpPr txBox="1"/>
              <p:nvPr/>
            </p:nvSpPr>
            <p:spPr>
              <a:xfrm>
                <a:off x="9189150" y="4612788"/>
                <a:ext cx="2005200" cy="677100"/>
              </a:xfrm>
              <a:prstGeom prst="rect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4- </a:t>
                </a:r>
                <a:r>
                  <a:rPr b="1" lang="pt-BR" sz="16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Condição que deve ser satisfeita</a:t>
                </a:r>
                <a:endParaRPr b="1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gfabc9e995c_0_177"/>
              <p:cNvSpPr/>
              <p:nvPr/>
            </p:nvSpPr>
            <p:spPr>
              <a:xfrm>
                <a:off x="8616425" y="5651425"/>
                <a:ext cx="3321300" cy="3393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5" name="Google Shape;205;gfabc9e995c_0_177"/>
            <p:cNvSpPr/>
            <p:nvPr/>
          </p:nvSpPr>
          <p:spPr>
            <a:xfrm>
              <a:off x="266675" y="4274525"/>
              <a:ext cx="3932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gfabc9e995c_0_177"/>
            <p:cNvSpPr txBox="1"/>
            <p:nvPr/>
          </p:nvSpPr>
          <p:spPr>
            <a:xfrm>
              <a:off x="6397325" y="4250363"/>
              <a:ext cx="4859100" cy="431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5- </a:t>
              </a:r>
              <a:r>
                <a:rPr b="1" lang="pt-BR" sz="1600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Impressão dos produtos com vendas acima da meta</a:t>
              </a:r>
              <a:endParaRPr b="1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7" name="Google Shape;207;gfabc9e995c_0_177"/>
            <p:cNvCxnSpPr>
              <a:stCxn id="205" idx="3"/>
              <a:endCxn id="206" idx="1"/>
            </p:cNvCxnSpPr>
            <p:nvPr/>
          </p:nvCxnSpPr>
          <p:spPr>
            <a:xfrm>
              <a:off x="4199075" y="4465925"/>
              <a:ext cx="21981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8" name="Google Shape;208;gfabc9e995c_0_177"/>
          <p:cNvSpPr txBox="1"/>
          <p:nvPr/>
        </p:nvSpPr>
        <p:spPr>
          <a:xfrm>
            <a:off x="266675" y="4176650"/>
            <a:ext cx="11747400" cy="12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Os itens pertencentes à nova lista são todos os produtos concordantes com uma condição. Então, ao invés de se iniciar pelo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loop for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inicia-se pelo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de forma que a lista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produtos_acima_meta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receba todo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pertencente à lista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produtos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e indexado por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cuja venda respectiva (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vendas_produtos[i]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) seja maior que 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meta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(condição). O bloco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tradicional todo é escrito em apenas 1 linha de código.</a:t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9" name="Google Shape;209;gfabc9e995c_0_177"/>
          <p:cNvGrpSpPr/>
          <p:nvPr/>
        </p:nvGrpSpPr>
        <p:grpSpPr>
          <a:xfrm>
            <a:off x="9073363" y="6349174"/>
            <a:ext cx="2591640" cy="176974"/>
            <a:chOff x="0" y="0"/>
            <a:chExt cx="5183280" cy="353947"/>
          </a:xfrm>
        </p:grpSpPr>
        <p:sp>
          <p:nvSpPr>
            <p:cNvPr id="210" name="Google Shape;210;gfabc9e995c_0_177"/>
            <p:cNvSpPr txBox="1"/>
            <p:nvPr/>
          </p:nvSpPr>
          <p:spPr>
            <a:xfrm>
              <a:off x="196380" y="50186"/>
              <a:ext cx="49869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398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667" u="none" cap="none" strike="noStrike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PYTHON IMPRESSIONADOR  I  HASHTAG TREINAMENTOS </a:t>
              </a:r>
              <a:endParaRPr/>
            </a:p>
          </p:txBody>
        </p:sp>
        <p:pic>
          <p:nvPicPr>
            <p:cNvPr id="211" name="Google Shape;211;gfabc9e995c_0_1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53947" cy="3539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gfabc9e995c_0_177"/>
          <p:cNvSpPr txBox="1"/>
          <p:nvPr/>
        </p:nvSpPr>
        <p:spPr>
          <a:xfrm>
            <a:off x="6483775" y="5352750"/>
            <a:ext cx="5530200" cy="12621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LEMBRETE: 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Não é obrigatório ter conhecimento sobre </a:t>
            </a:r>
            <a:r>
              <a:rPr b="1" i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São apenas formas alternativas de escrever o código cujo resultado final é o mesmo.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fabc9e995c_0_177"/>
          <p:cNvSpPr txBox="1"/>
          <p:nvPr/>
        </p:nvSpPr>
        <p:spPr>
          <a:xfrm>
            <a:off x="258001" y="5383500"/>
            <a:ext cx="5971800" cy="12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Apesar da estrutura do código ser menos intuitiva, o acréscimo da lógica condicional à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 Comprehension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se torna uma ferramenta poderosa na criação de listas, auxiliando na redução de linhas de código.</a:t>
            </a:r>
            <a:endParaRPr sz="22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4" name="Google Shape;214;gfabc9e995c_0_177"/>
          <p:cNvCxnSpPr/>
          <p:nvPr/>
        </p:nvCxnSpPr>
        <p:spPr>
          <a:xfrm flipH="1">
            <a:off x="6306000" y="5506750"/>
            <a:ext cx="14400" cy="1108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5" name="Google Shape;215;gfabc9e995c_0_177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16 - List Comprehension filtrando com if - Exemplo List Comprehension (2/2)</a:t>
            </a:r>
            <a:endParaRPr b="1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2021-10-21T15:34:20Z</dcterms:created>
  <dc:creator>Marcus Vinicius Cavalcanti de Jesus</dc:creator>
</cp:coreProperties>
</file>